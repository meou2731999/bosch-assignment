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8e1906b2b9844b2" /><Relationship Type="http://schemas.openxmlformats.org/officeDocument/2006/relationships/extended-properties" Target="/docProps/app.xml" Id="Ra89bd8e1e3534bed" /><Relationship Type="http://schemas.openxmlformats.org/officeDocument/2006/relationships/officeDocument" Target="/ppt/presentation.xml" Id="R13548760267a4787" /></Relationships>
</file>

<file path=ppt/presentation.xml><?xml version="1.0" encoding="utf-8"?>
<p:presentation xmlns:p="http://schemas.openxmlformats.org/presentationml/2006/main">
  <p:sldMasterIdLst>
    <p:sldMasterId xmlns:r="http://schemas.openxmlformats.org/officeDocument/2006/relationships" id="2147483648" r:id="R053193f08b354962"/>
  </p:sldMasterIdLst>
  <p:notesMasterIdLst>
    <p:notesMasterId xmlns:r="http://schemas.openxmlformats.org/officeDocument/2006/relationships" r:id="R871b9e2f4930469b"/>
  </p:notesMasterIdLst>
  <p:sldIdLst>
    <p:sldId xmlns:r="http://schemas.openxmlformats.org/officeDocument/2006/relationships" id="256" r:id="Rbb919e04fc5b4704"/>
    <p:sldId xmlns:r="http://schemas.openxmlformats.org/officeDocument/2006/relationships" id="257" r:id="Rdbd780aabf754ed6"/>
    <p:sldId xmlns:r="http://schemas.openxmlformats.org/officeDocument/2006/relationships" id="258" r:id="R636c8bd17de14ad8"/>
    <p:sldId xmlns:r="http://schemas.openxmlformats.org/officeDocument/2006/relationships" id="259" r:id="Rd9f96edc1b884776"/>
    <p:sldId xmlns:r="http://schemas.openxmlformats.org/officeDocument/2006/relationships" id="260" r:id="Ra1ad6cbf239343d4"/>
    <p:sldId xmlns:r="http://schemas.openxmlformats.org/officeDocument/2006/relationships" id="261" r:id="Rcc593c8352f04090"/>
    <p:sldId xmlns:r="http://schemas.openxmlformats.org/officeDocument/2006/relationships" id="262" r:id="Rf17e4377d7fc43bb"/>
    <p:sldId xmlns:r="http://schemas.openxmlformats.org/officeDocument/2006/relationships" id="263" r:id="R6e94787a29dd452f"/>
    <p:sldId xmlns:r="http://schemas.openxmlformats.org/officeDocument/2006/relationships" id="264" r:id="Rdc08f3cc784d4a2b"/>
    <p:sldId xmlns:r="http://schemas.openxmlformats.org/officeDocument/2006/relationships" id="265" r:id="R2a92a344715b4ea9"/>
    <p:sldId xmlns:r="http://schemas.openxmlformats.org/officeDocument/2006/relationships" id="266" r:id="Rf8f6feb774e6418e"/>
    <p:sldId xmlns:r="http://schemas.openxmlformats.org/officeDocument/2006/relationships" id="267" r:id="Rfbdfd8c4018742e4"/>
    <p:sldId xmlns:r="http://schemas.openxmlformats.org/officeDocument/2006/relationships" id="268" r:id="R200c1eff3294403c"/>
    <p:sldId xmlns:r="http://schemas.openxmlformats.org/officeDocument/2006/relationships" id="269" r:id="R3a4f7080b4b44b15"/>
    <p:sldId xmlns:r="http://schemas.openxmlformats.org/officeDocument/2006/relationships" id="270" r:id="R3bb6c42963c44e6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35b444b14864e22" /><Relationship Type="http://schemas.openxmlformats.org/officeDocument/2006/relationships/slideMaster" Target="/ppt/slideMasters/slideMaster1.xml" Id="R053193f08b354962" /><Relationship Type="http://schemas.openxmlformats.org/officeDocument/2006/relationships/notesMaster" Target="/ppt/notesMasters/notesMaster1.xml" Id="R871b9e2f4930469b" /><Relationship Type="http://schemas.openxmlformats.org/officeDocument/2006/relationships/presProps" Target="/ppt/presProps.xml" Id="R31580b55604f4d8d" /><Relationship Type="http://schemas.openxmlformats.org/officeDocument/2006/relationships/tableStyles" Target="/ppt/tableStyles.xml" Id="R8061ab0a8492462a" /><Relationship Type="http://schemas.openxmlformats.org/officeDocument/2006/relationships/slide" Target="/ppt/slides/slide1.xml" Id="Rbb919e04fc5b4704" /><Relationship Type="http://schemas.openxmlformats.org/officeDocument/2006/relationships/slide" Target="/ppt/slides/slide2.xml" Id="Rdbd780aabf754ed6" /><Relationship Type="http://schemas.openxmlformats.org/officeDocument/2006/relationships/slide" Target="/ppt/slides/slide3.xml" Id="R636c8bd17de14ad8" /><Relationship Type="http://schemas.openxmlformats.org/officeDocument/2006/relationships/slide" Target="/ppt/slides/slide4.xml" Id="Rd9f96edc1b884776" /><Relationship Type="http://schemas.openxmlformats.org/officeDocument/2006/relationships/slide" Target="/ppt/slides/slide5.xml" Id="Ra1ad6cbf239343d4" /><Relationship Type="http://schemas.openxmlformats.org/officeDocument/2006/relationships/slide" Target="/ppt/slides/slide6.xml" Id="Rcc593c8352f04090" /><Relationship Type="http://schemas.openxmlformats.org/officeDocument/2006/relationships/slide" Target="/ppt/slides/slide7.xml" Id="Rf17e4377d7fc43bb" /><Relationship Type="http://schemas.openxmlformats.org/officeDocument/2006/relationships/slide" Target="/ppt/slides/slide8.xml" Id="R6e94787a29dd452f" /><Relationship Type="http://schemas.openxmlformats.org/officeDocument/2006/relationships/slide" Target="/ppt/slides/slide9.xml" Id="Rdc08f3cc784d4a2b" /><Relationship Type="http://schemas.openxmlformats.org/officeDocument/2006/relationships/slide" Target="/ppt/slides/slide10.xml" Id="R2a92a344715b4ea9" /><Relationship Type="http://schemas.openxmlformats.org/officeDocument/2006/relationships/slide" Target="/ppt/slides/slide11.xml" Id="Rf8f6feb774e6418e" /><Relationship Type="http://schemas.openxmlformats.org/officeDocument/2006/relationships/slide" Target="/ppt/slides/slide12.xml" Id="Rfbdfd8c4018742e4" /><Relationship Type="http://schemas.openxmlformats.org/officeDocument/2006/relationships/slide" Target="/ppt/slides/slide13.xml" Id="R200c1eff3294403c" /><Relationship Type="http://schemas.openxmlformats.org/officeDocument/2006/relationships/slide" Target="/ppt/slides/slide14.xml" Id="R3a4f7080b4b44b15" /><Relationship Type="http://schemas.openxmlformats.org/officeDocument/2006/relationships/slide" Target="/ppt/slides/slide15.xml" Id="R3bb6c42963c44e6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ea9dce9ea5e4a2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e07805c95b34ba3" /><Relationship Type="http://schemas.openxmlformats.org/officeDocument/2006/relationships/notesMaster" Target="/ppt/notesMasters/notesMaster1.xml" Id="R6cc34d0133bc46ff" /></Relationships>
</file>

<file path=ppt/notesSlides/_rels/notesSlide2.xml.rels>&#65279;<?xml version="1.0" encoding="utf-8"?><Relationships xmlns="http://schemas.openxmlformats.org/package/2006/relationships"><Relationship Type="http://schemas.openxmlformats.org/officeDocument/2006/relationships/slide" Target="/ppt/slides/slide2.xml" Id="R5ce53505f7f94ee3" /><Relationship Type="http://schemas.openxmlformats.org/officeDocument/2006/relationships/notesMaster" Target="/ppt/notesMasters/notesMaster1.xml" Id="R431071e8b3de47fb" /></Relationships>
</file>

<file path=ppt/notesSlides/_rels/notesSlide3.xml.rels>&#65279;<?xml version="1.0" encoding="utf-8"?><Relationships xmlns="http://schemas.openxmlformats.org/package/2006/relationships"><Relationship Type="http://schemas.openxmlformats.org/officeDocument/2006/relationships/slide" Target="/ppt/slides/slide3.xml" Id="R6b5a496318264156" /><Relationship Type="http://schemas.openxmlformats.org/officeDocument/2006/relationships/notesMaster" Target="/ppt/notesMasters/notesMaster1.xml" Id="R9151265740594505" /></Relationships>
</file>

<file path=ppt/notesSlides/_rels/notesSlide4.xml.rels>&#65279;<?xml version="1.0" encoding="utf-8"?><Relationships xmlns="http://schemas.openxmlformats.org/package/2006/relationships"><Relationship Type="http://schemas.openxmlformats.org/officeDocument/2006/relationships/slide" Target="/ppt/slides/slide4.xml" Id="R0026c93cb52847a6" /><Relationship Type="http://schemas.openxmlformats.org/officeDocument/2006/relationships/notesMaster" Target="/ppt/notesMasters/notesMaster1.xml" Id="R1c951c5ba79c46a5" /></Relationships>
</file>

<file path=ppt/notesSlides/_rels/notesSlide5.xml.rels>&#65279;<?xml version="1.0" encoding="utf-8"?><Relationships xmlns="http://schemas.openxmlformats.org/package/2006/relationships"><Relationship Type="http://schemas.openxmlformats.org/officeDocument/2006/relationships/slide" Target="/ppt/slides/slide5.xml" Id="Rc46f14d88e7b4d9e" /><Relationship Type="http://schemas.openxmlformats.org/officeDocument/2006/relationships/notesMaster" Target="/ppt/notesMasters/notesMaster1.xml" Id="Rc07279c763d0470b" /></Relationships>
</file>

<file path=ppt/notesSlides/_rels/notesSlide6.xml.rels>&#65279;<?xml version="1.0" encoding="utf-8"?><Relationships xmlns="http://schemas.openxmlformats.org/package/2006/relationships"><Relationship Type="http://schemas.openxmlformats.org/officeDocument/2006/relationships/slide" Target="/ppt/slides/slide6.xml" Id="R273df5afc5af4c84" /><Relationship Type="http://schemas.openxmlformats.org/officeDocument/2006/relationships/notesMaster" Target="/ppt/notesMasters/notesMaster1.xml" Id="R2979427cbbe84236" /></Relationships>
</file>

<file path=ppt/notesSlides/_rels/notesSlide7.xml.rels>&#65279;<?xml version="1.0" encoding="utf-8"?><Relationships xmlns="http://schemas.openxmlformats.org/package/2006/relationships"><Relationship Type="http://schemas.openxmlformats.org/officeDocument/2006/relationships/slide" Target="/ppt/slides/slide7.xml" Id="R0694dd2ab30e4bc1" /><Relationship Type="http://schemas.openxmlformats.org/officeDocument/2006/relationships/notesMaster" Target="/ppt/notesMasters/notesMaster1.xml" Id="R3539083590b14e30" /></Relationships>
</file>

<file path=ppt/notesSlides/_rels/notesSlide8.xml.rels>&#65279;<?xml version="1.0" encoding="utf-8"?><Relationships xmlns="http://schemas.openxmlformats.org/package/2006/relationships"><Relationship Type="http://schemas.openxmlformats.org/officeDocument/2006/relationships/slide" Target="/ppt/slides/slide8.xml" Id="R4c16b1b27e834f47" /><Relationship Type="http://schemas.openxmlformats.org/officeDocument/2006/relationships/notesMaster" Target="/ppt/notesMasters/notesMaster1.xml" Id="Re1e14d6a5c034d34" /></Relationships>
</file>

<file path=ppt/notesSlides/_rels/notesSlide9.xml.rels>&#65279;<?xml version="1.0" encoding="utf-8"?><Relationships xmlns="http://schemas.openxmlformats.org/package/2006/relationships"><Relationship Type="http://schemas.openxmlformats.org/officeDocument/2006/relationships/slide" Target="/ppt/slides/slide9.xml" Id="Rb1e4615840114306" /><Relationship Type="http://schemas.openxmlformats.org/officeDocument/2006/relationships/notesMaster" Target="/ppt/notesMasters/notesMaster1.xml" Id="R985ed469a76c451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cc1fc44239d437f" /><Relationship Type="http://schemas.openxmlformats.org/officeDocument/2006/relationships/notesMaster" Target="/ppt/notesMasters/notesMaster1.xml" Id="Rf3639ec782e841a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3a5b048c9254909" /><Relationship Type="http://schemas.openxmlformats.org/officeDocument/2006/relationships/notesMaster" Target="/ppt/notesMasters/notesMaster1.xml" Id="R917576267ad342c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062b4ca41b04fdb" /><Relationship Type="http://schemas.openxmlformats.org/officeDocument/2006/relationships/notesMaster" Target="/ppt/notesMasters/notesMaster1.xml" Id="R393034eced9a443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a3606f8e86b4fd4" /><Relationship Type="http://schemas.openxmlformats.org/officeDocument/2006/relationships/notesMaster" Target="/ppt/notesMasters/notesMaster1.xml" Id="Re747964ead0d4e9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bec69f273dc4a89" /><Relationship Type="http://schemas.openxmlformats.org/officeDocument/2006/relationships/notesMaster" Target="/ppt/notesMasters/notesMaster1.xml" Id="R8f98b1ae7a6a48c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39aba5231c445cd" /><Relationship Type="http://schemas.openxmlformats.org/officeDocument/2006/relationships/notesMaster" Target="/ppt/notesMasters/notesMaster1.xml" Id="R70e1edd4f5ef4b2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1 phút. Đây là đề xuất pilot cho quy trình yêu cầu đang dùng email và spreadsheet. Bản prototype dùng dữ liệu giả. Phần tích hợp sản phẩm và customer acceptance vẫn là công việc đề xuất. Nguồn: assignment trang 1–3, docs/proposal.md.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phút. Nêu vấn đề trước công nghệ. Chưa có baseline nên không hứa giảm thời gian theo phần trăm. Hỏi khách hàng về số lượng request, lỗi thiếu thông tin, thời gian review và người chịu trách nhiệm. Nguồn: assignment trang 2, docs/proposal.md.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phút. Phân biệt yêu cầu assignment với giả định. Các tài khoản/session cục bộ chỉ hỗ trợ demo, không thay SSO của sản phẩm. Chốt ví dụ equipment/software, quy tắc required, approval và quyền xem request trước estimate. Nguồn: assignment trang 1–2, docs/decisions.md.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phút trình bày. Demo riêng 15 phút: 0–2 phút admin và publish form, 2–5 phút requester đổi Equipment/Software và validation, 5–7 phút save/reload và file preview, 7–10 phút thêm field và publish version mới trong cùng browser document, 10–12 phút preview upgrade, sửa dữ liệu và confirm, 12–15 phút reviewer approve/reject và audit. Không nhập dữ liệu thật. Dùng docs/demo-script.md và tài khoản synthetic. Nguồn: ảnh test-results/css-isolation-desktop.png, docs/demo-script.md.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phút. React quản lý lựa chọn request, locale và network state. DynamicForm/FormHandle cô lập lifecycle renderer. Basic/legacy dùng Form.io, schema có cấu trúc dùng React. Shared evaluator dùng cho custom schema ở cả UI/API. API quyết định quyền, revision, validation và status. Store JSON cục bộ chỉ single process. Tích hợp thật thay session/store/file/workflow bằng các dịch vụ sản phẩm. Nguồn: docs/architecture.md, src/features/forms/DynamicForm.tsx, server/app.ts.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phút. Giải thích lựa chọn hybrid bằng việc bảo toàn schema cũ và đồng nhất custom validation. Không nói adapter loại bỏ coupling. Form.io full builder có thể nhanh hơn cho authoring nhưng cần đánh giá component, rule safety và licensing. Prototype dùng pinned packages, không giả định Enterprise. Nguồn: docs/architecture.md, docs/decisions.md, 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phút. Publish tạo immutable version và cập nhật active pointer. Request mới lấy active schema, request cũ pinned ID/version. Owner preview upgrade, sửa mọi giá trị không hợp lệ rồi validate và confirm. Restore giữ đúng schema/data/files lịch sử nhưng tạo revision mới. Submitted/final request không migrate. Supported JSON fields không cần frontend release, còn input/operator mới cần code. Nguồn: docs/draft-upgrades.md, docs/release-independent-schema.md.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phút. Nêu frontend validation là hỗ trợ người dùng, API mới là authority. Legacy rules có profile server riêng, chỉ custom evaluator được dùng chung trực tiếp. File bytes và access checks đã chạy cục bộ, antivirus và retention chưa triển khai. Session/rate limit cục bộ không chứng minh scale. Nguồn: docs/authentication.md, docs/forms-and-permissions.md, docs/risks.md.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phút. Nêu state nằm gần nơi sử dụng, adapter giữ renderer state. Modal giữ focus, Escape/Cancel trả focus, lỗi giữ dữ liệu, busy chặn đóng. Spacing dùng gap thay margin trên inline label. Tailwind không prefix, vendor CSS chỉ trong formio-surface. Accessibility đầy đủ với screen reader vẫn cần UAT. Nguồn: src/components/ui/Modal.tsx, docs/css-isolation.md, ảnh test-results/spacing-edit-user.png.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phút. Số test lấy từ các lần chạy đã ghi nhận trong phiên: npm run check 80 tests và E2E chậm 500ms 15/15 ngày 12/10/2026. Không lấy số 77/11 trong proposal cũ. Headless/hosted CI chưa có bằng chứng mới cho toàn bộ 15 tests. GitHub private repo đã tạo nhưng push bị chặn quyền workflow nên không nói repository đã publish source thành công. Mô tả chính xác phần AI hỗ trợ, không giả nhận ownership độc lập. Nguồn: docs/browser-tests.md, test-results, playwright.config.ts, lịch sử kiểm tra phiên.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phút. Estimate minh họa 4 tuần, 38 ngày công base +8 contingency =46. Đây là capacity đa vai trò, không phải 46 ngày lịch hoặc effort assessment. Re-estimate sau discovery API/storage/workflow. Assignment gợi ý 10–12 giờ trong 5 ngày, đó là timebox đánh giá riêng và không phải giờ candidate đã log. Nguồn: docs/delivery.md.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phút. Ví dụ junior làm request list/status và translated copy; pair lần đầu Form.io lifecycle. Review loading/errors, quyền API, accessibility và test meaningful, không chỉ appearance. Đặt daily unblock ngắn và demo hai lần mỗi tuần. Khi thay scope phải cập nhật estimate. Nguồn: docs/delivery.md.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phút. Các mức risk là nhận định và owner là vai trò chưa phải người được khách hàng chỉ định. Unauthorized access/data loss chặn release. Thiếu sandbox/API thì re-estimate, không cắt validation để giữ deadline. Files cần approved service. Lịch sử request cần immutable versions và explicit migration. Nguồn: docs/risks.md.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phút. Phân biệt engineering readiness với business acceptance. UAT scenarios: equipment/software conditions, invalid submit, reload draft, denied API access, file access, stale revision, upgrade/cancel/restore, reviewer reason và audit. Triage defect hay change request, assign severity, fix/retest và business confirm. Runbook, rollback và support owner cần được duyệt. Nguồn: docs/uat.md.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phút. Ví dụ phản biện: “mọi thay đổi không cần frontend deploy?” Trả lời supported schema change có bằng chứng, workflow/operator mới cần implementation. “Sao không full production?” Pilot đủ chứng minh journey, production controls có gate riêng. “Dùng AI thế nào?” Codex drafted artifacts và chạy checks, independent candidate review chưa ghi nhận. Không cam kết estimate mới trước khi biết domain contracts. Kết thúc xin chốt pilot scope và người sign-off. Nguồn: assignment trang 3, docs/delivery.md, docs/risks.md.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a3ec2e691e44de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fbfc6eab2644f3" /><Relationship Type="http://schemas.openxmlformats.org/officeDocument/2006/relationships/slideLayout" Target="/ppt/slideLayouts/slideLayout1.xml" Id="R39dd04826a234d8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9dd04826a234d8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d324b3cc1f04161" /><Relationship Type="http://schemas.openxmlformats.org/officeDocument/2006/relationships/notesSlide" Target="/ppt/notesSlides/notesSlide1.xml" Id="R89a7c436910c4ed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d2f2191f5ef404c" /><Relationship Type="http://schemas.openxmlformats.org/officeDocument/2006/relationships/notesSlide" Target="/ppt/notesSlides/notesSlide2.xml" Id="R1972f9c7b0b643c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bec933124ed44da" /><Relationship Type="http://schemas.openxmlformats.org/officeDocument/2006/relationships/notesSlide" Target="/ppt/notesSlides/notesSlide3.xml" Id="R885367a7f7d7404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9353c8b14634df0" /><Relationship Type="http://schemas.openxmlformats.org/officeDocument/2006/relationships/image" Target="/ppt/media/image.png" Id="Rd20e99710ef64146" /><Relationship Type="http://schemas.openxmlformats.org/officeDocument/2006/relationships/notesSlide" Target="/ppt/notesSlides/notesSlide4.xml" Id="R73c132c414ee40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2b6820232c449c4" /><Relationship Type="http://schemas.openxmlformats.org/officeDocument/2006/relationships/notesSlide" Target="/ppt/notesSlides/notesSlide5.xml" Id="R1338ed21f46d47b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9ce51edcb2b4541" /><Relationship Type="http://schemas.openxmlformats.org/officeDocument/2006/relationships/notesSlide" Target="/ppt/notesSlides/notesSlide6.xml" Id="R3e1fcaa3ec444fa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fa0837ca35041c7" /><Relationship Type="http://schemas.openxmlformats.org/officeDocument/2006/relationships/notesSlide" Target="/ppt/notesSlides/notesSlide7.xml" Id="Rfbfa58854e574ff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d3504fc30d34dd7" /><Relationship Type="http://schemas.openxmlformats.org/officeDocument/2006/relationships/notesSlide" Target="/ppt/notesSlides/notesSlide8.xml" Id="R71b804268916495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b83f2214ef843dd" /><Relationship Type="http://schemas.openxmlformats.org/officeDocument/2006/relationships/image" Target="/ppt/media/image2.png" Id="R29e74bbc09d04bfc" /><Relationship Type="http://schemas.openxmlformats.org/officeDocument/2006/relationships/notesSlide" Target="/ppt/notesSlides/notesSlide9.xml" Id="R77f28785cef04cb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b9187cf87a24b10" /><Relationship Type="http://schemas.openxmlformats.org/officeDocument/2006/relationships/notesSlide" Target="/ppt/notesSlides/notesSlide10.xml" Id="Rff69191a3f96402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d525d32ab0743ab" /><Relationship Type="http://schemas.openxmlformats.org/officeDocument/2006/relationships/notesSlide" Target="/ppt/notesSlides/notesSlide11.xml" Id="R76b04c48d5e3440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4b913d7b72343ee" /><Relationship Type="http://schemas.openxmlformats.org/officeDocument/2006/relationships/notesSlide" Target="/ppt/notesSlides/notesSlide12.xml" Id="R3ddf951462124a7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1531418ec4745cc" /><Relationship Type="http://schemas.openxmlformats.org/officeDocument/2006/relationships/notesSlide" Target="/ppt/notesSlides/notesSlide13.xml" Id="R1f06b2db49524d9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db1ca24906f492a" /><Relationship Type="http://schemas.openxmlformats.org/officeDocument/2006/relationships/notesSlide" Target="/ppt/notesSlides/notesSlide14.xml" Id="Re1792a8d8d0a46b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bea55a01b654efc" /><Relationship Type="http://schemas.openxmlformats.org/officeDocument/2006/relationships/notesSlide" Target="/ppt/notesSlides/notesSlide15.xml" Id="Rb41d07323b9840ff" /></Relationships>
</file>

<file path=ppt/slides/slide1.xml><?xml version="1.0" encoding="utf-8"?>
<p:sld xmlns:p="http://schemas.openxmlformats.org/presentationml/2006/main">
  <p:cSld>
    <p:bg>
      <p:bgPr>
        <a:solidFill xmlns:a="http://schemas.openxmlformats.org/drawingml/2006/main">
          <a:srgbClr val="183F3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CA33ADD-DF94-43CA-A804-5C9C746B771B}"/>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33B36"/>
                </a:solidFill>
                <a:latin typeface="Helvetica Neue"/>
                <a:ea typeface="Helvetica Neue"/>
                <a:cs typeface="Helvetica Neue"/>
              </a:defRPr>
            </a:pPr>
            <a:r>
              <a:rPr sz="1350" b="0">
                <a:solidFill>
                  <a:srgbClr val="233B36"/>
                </a:solidFill>
                <a:latin typeface="Helvetica Neue"/>
                <a:ea typeface="Helvetica Neue"/>
                <a:cs typeface="Helvetica Neue"/>
              </a:rPr>
              <a:t>01 / 15</a:t>
            </a:r>
          </a:p>
        </p:txBody>
      </p:sp>
      <p:sp>
        <p:nvSpPr>
          <p:cNvPr id="2" name="">
            <a:extLst xmlns:a="http://schemas.openxmlformats.org/drawingml/2006/main">
              <a:ext uri="{FF2B5EF4-FFF2-40B4-BE49-F238E27FC236}">
                <a16:creationId xmlns:a16="http://schemas.microsoft.com/office/drawing/2014/main" id="{37F22EA7-329A-4EB6-9AC7-1B7C1C20C80A}"/>
              </a:ext>
            </a:extLst>
          </p:cNvPr>
          <p:cNvSpPr>
            <a:spLocks xmlns:a="http://schemas.openxmlformats.org/drawingml/2006/main" noGrp="1"/>
          </p:cNvSpPr>
          <p:nvPr/>
        </p:nvSpPr>
        <p:spPr>
          <a:xfrm xmlns:a="http://schemas.openxmlformats.org/drawingml/2006/main">
            <a:off x="685800" y="76200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BFD3C6"/>
                </a:solidFill>
                <a:latin typeface="Helvetica Neue"/>
                <a:ea typeface="Helvetica Neue"/>
                <a:cs typeface="Helvetica Neue"/>
              </a:defRPr>
            </a:pPr>
            <a:r>
              <a:rPr sz="1800" b="1">
                <a:solidFill>
                  <a:srgbClr val="BFD3C6"/>
                </a:solidFill>
                <a:latin typeface="Helvetica Neue"/>
                <a:ea typeface="Helvetica Neue"/>
                <a:cs typeface="Helvetica Neue"/>
              </a:rPr>
              <a:t>SOLUTION ENGINEER • TECHNICAL ASSIGNMENT</a:t>
            </a:r>
          </a:p>
        </p:txBody>
      </p:sp>
      <p:sp>
        <p:nvSpPr>
          <p:cNvPr id="3" name="">
            <a:extLst xmlns:a="http://schemas.openxmlformats.org/drawingml/2006/main">
              <a:ext uri="{FF2B5EF4-FFF2-40B4-BE49-F238E27FC236}">
                <a16:creationId xmlns:a16="http://schemas.microsoft.com/office/drawing/2014/main" id="{C70004D3-522B-44FB-88D5-57A4C2AAB9FB}"/>
              </a:ext>
            </a:extLst>
          </p:cNvPr>
          <p:cNvSpPr>
            <a:spLocks xmlns:a="http://schemas.openxmlformats.org/drawingml/2006/main" noGrp="1"/>
          </p:cNvSpPr>
          <p:nvPr/>
        </p:nvSpPr>
        <p:spPr>
          <a:xfrm xmlns:a="http://schemas.openxmlformats.org/drawingml/2006/main">
            <a:off x="685800" y="2286000"/>
            <a:ext cx="1047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FFFFFF"/>
                </a:solidFill>
                <a:latin typeface="Helvetica Neue"/>
                <a:ea typeface="Helvetica Neue"/>
                <a:cs typeface="Helvetica Neue"/>
              </a:defRPr>
            </a:pPr>
            <a:r>
              <a:rPr sz="6600" b="1">
                <a:solidFill>
                  <a:srgbClr val="FFFFFF"/>
                </a:solidFill>
                <a:latin typeface="Helvetica Neue"/>
                <a:ea typeface="Helvetica Neue"/>
                <a:cs typeface="Helvetica Neue"/>
              </a:rPr>
              <a:t>Request Desk</a:t>
            </a:r>
          </a:p>
        </p:txBody>
      </p:sp>
      <p:sp>
        <p:nvSpPr>
          <p:cNvPr id="4" name="">
            <a:extLst xmlns:a="http://schemas.openxmlformats.org/drawingml/2006/main">
              <a:ext uri="{FF2B5EF4-FFF2-40B4-BE49-F238E27FC236}">
                <a16:creationId xmlns:a16="http://schemas.microsoft.com/office/drawing/2014/main" id="{0751FBF3-EB16-4DE4-BD4B-8CC705EF46C1}"/>
              </a:ext>
            </a:extLst>
          </p:cNvPr>
          <p:cNvSpPr>
            <a:spLocks xmlns:a="http://schemas.openxmlformats.org/drawingml/2006/main" noGrp="1"/>
          </p:cNvSpPr>
          <p:nvPr/>
        </p:nvSpPr>
        <p:spPr>
          <a:xfrm xmlns:a="http://schemas.openxmlformats.org/drawingml/2006/main">
            <a:off x="685800" y="37623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FFFFF"/>
                </a:solidFill>
                <a:latin typeface="Helvetica Neue"/>
                <a:ea typeface="Helvetica Neue"/>
                <a:cs typeface="Helvetica Neue"/>
              </a:defRPr>
            </a:pPr>
            <a:r>
              <a:rPr sz="2550" b="0">
                <a:solidFill>
                  <a:srgbClr val="FFFFFF"/>
                </a:solidFill>
                <a:latin typeface="Helvetica Neue"/>
                <a:ea typeface="Helvetica Neue"/>
                <a:cs typeface="Helvetica Neue"/>
              </a:rPr>
              <a:t>Dynamic forms inside an existing React product</a:t>
            </a:r>
          </a:p>
        </p:txBody>
      </p:sp>
      <p:sp>
        <p:nvSpPr>
          <p:cNvPr id="5" name="">
            <a:extLst xmlns:a="http://schemas.openxmlformats.org/drawingml/2006/main">
              <a:ext uri="{FF2B5EF4-FFF2-40B4-BE49-F238E27FC236}">
                <a16:creationId xmlns:a16="http://schemas.microsoft.com/office/drawing/2014/main" id="{B91B69B4-7790-4136-AA78-35DC3EC31BDC}"/>
              </a:ext>
            </a:extLst>
          </p:cNvPr>
          <p:cNvSpPr>
            <a:spLocks xmlns:a="http://schemas.openxmlformats.org/drawingml/2006/main" noGrp="1"/>
          </p:cNvSpPr>
          <p:nvPr/>
        </p:nvSpPr>
        <p:spPr>
          <a:xfrm xmlns:a="http://schemas.openxmlformats.org/drawingml/2006/main">
            <a:off x="685800" y="53816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FD3C6"/>
                </a:solidFill>
                <a:latin typeface="Helvetica Neue"/>
                <a:ea typeface="Helvetica Neue"/>
                <a:cs typeface="Helvetica Neue"/>
              </a:defRPr>
            </a:pPr>
            <a:r>
              <a:rPr sz="1875" b="0">
                <a:solidFill>
                  <a:srgbClr val="BFD3C6"/>
                </a:solidFill>
                <a:latin typeface="Helvetica Neue"/>
                <a:ea typeface="Helvetica Neue"/>
                <a:cs typeface="Helvetica Neue"/>
              </a:rPr>
              <a:t>Proposal · Architecture · Delivery · Demonstration</a:t>
            </a:r>
          </a:p>
        </p:txBody>
      </p:sp>
    </p:spTree>
    <p:extLst>
      <p:ext uri="{BB962C8B-B14F-4D97-AF65-F5344CB8AC3E}">
        <p14:creationId xmlns:p14="http://schemas.microsoft.com/office/powerpoint/2010/main" val="645104836"/>
      </p:ext>
    </p:extLst>
  </p:cSld>
</p:sld>
</file>

<file path=ppt/slides/slide2.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60DB7D3-0D66-4371-90A1-64DC4B9BE545}"/>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33B36"/>
                </a:solidFill>
                <a:latin typeface="Helvetica Neue"/>
                <a:ea typeface="Helvetica Neue"/>
                <a:cs typeface="Helvetica Neue"/>
              </a:defRPr>
            </a:pPr>
            <a:r>
              <a:rPr sz="1350" b="0">
                <a:solidFill>
                  <a:srgbClr val="233B36"/>
                </a:solidFill>
                <a:latin typeface="Helvetica Neue"/>
                <a:ea typeface="Helvetica Neue"/>
                <a:cs typeface="Helvetica Neue"/>
              </a:rPr>
              <a:t>02 / 15</a:t>
            </a:r>
          </a:p>
        </p:txBody>
      </p:sp>
      <p:sp>
        <p:nvSpPr>
          <p:cNvPr id="2" name="">
            <a:extLst xmlns:a="http://schemas.openxmlformats.org/drawingml/2006/main">
              <a:ext uri="{FF2B5EF4-FFF2-40B4-BE49-F238E27FC236}">
                <a16:creationId xmlns:a16="http://schemas.microsoft.com/office/drawing/2014/main" id="{84A540B5-2517-4BFB-9C7E-178A4F6FC745}"/>
              </a:ext>
            </a:extLst>
          </p:cNvPr>
          <p:cNvSpPr>
            <a:spLocks xmlns:a="http://schemas.openxmlformats.org/drawingml/2006/main" noGrp="1"/>
          </p:cNvSpPr>
          <p:nvPr/>
        </p:nvSpPr>
        <p:spPr>
          <a:xfrm xmlns:a="http://schemas.openxmlformats.org/drawingml/2006/main">
            <a:off x="685800" y="495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33B36"/>
                </a:solidFill>
                <a:latin typeface="Helvetica Neue"/>
                <a:ea typeface="Helvetica Neue"/>
                <a:cs typeface="Helvetica Neue"/>
              </a:defRPr>
            </a:pPr>
            <a:r>
              <a:rPr sz="3450" b="1">
                <a:solidFill>
                  <a:srgbClr val="233B36"/>
                </a:solidFill>
                <a:latin typeface="Helvetica Neue"/>
                <a:ea typeface="Helvetica Neue"/>
                <a:cs typeface="Helvetica Neue"/>
              </a:rPr>
              <a:t>The customer problem</a:t>
            </a:r>
          </a:p>
        </p:txBody>
      </p:sp>
      <p:sp>
        <p:nvSpPr>
          <p:cNvPr id="3" name="">
            <a:extLst xmlns:a="http://schemas.openxmlformats.org/drawingml/2006/main">
              <a:ext uri="{FF2B5EF4-FFF2-40B4-BE49-F238E27FC236}">
                <a16:creationId xmlns:a16="http://schemas.microsoft.com/office/drawing/2014/main" id="{FE56A070-7748-4764-9AF4-244B9EC2B980}"/>
              </a:ext>
            </a:extLst>
          </p:cNvPr>
          <p:cNvSpPr>
            <a:spLocks xmlns:a="http://schemas.openxmlformats.org/drawingml/2006/main" noGrp="1"/>
          </p:cNvSpPr>
          <p:nvPr/>
        </p:nvSpPr>
        <p:spPr>
          <a:xfrm xmlns:a="http://schemas.openxmlformats.org/drawingml/2006/main">
            <a:off x="685800" y="16668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Email and spreadsheets scatter request details and approval status.</a:t>
            </a:r>
          </a:p>
        </p:txBody>
      </p:sp>
      <p:sp>
        <p:nvSpPr>
          <p:cNvPr id="4" name="">
            <a:extLst xmlns:a="http://schemas.openxmlformats.org/drawingml/2006/main">
              <a:ext uri="{FF2B5EF4-FFF2-40B4-BE49-F238E27FC236}">
                <a16:creationId xmlns:a16="http://schemas.microsoft.com/office/drawing/2014/main" id="{56CC89B9-B8DC-46E9-AD85-67DDC26D2EE1}"/>
              </a:ext>
            </a:extLst>
          </p:cNvPr>
          <p:cNvSpPr>
            <a:spLocks xmlns:a="http://schemas.openxmlformats.org/drawingml/2006/main" noGrp="1"/>
          </p:cNvSpPr>
          <p:nvPr/>
        </p:nvSpPr>
        <p:spPr>
          <a:xfrm xmlns:a="http://schemas.openxmlformats.org/drawingml/2006/main">
            <a:off x="685800" y="2667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A configurable request journey gives users one place to submit and track work.</a:t>
            </a:r>
          </a:p>
        </p:txBody>
      </p:sp>
      <p:sp>
        <p:nvSpPr>
          <p:cNvPr id="5" name="">
            <a:extLst xmlns:a="http://schemas.openxmlformats.org/drawingml/2006/main">
              <a:ext uri="{FF2B5EF4-FFF2-40B4-BE49-F238E27FC236}">
                <a16:creationId xmlns:a16="http://schemas.microsoft.com/office/drawing/2014/main" id="{438B99D7-F615-4A64-9190-C02D185684E4}"/>
              </a:ext>
            </a:extLst>
          </p:cNvPr>
          <p:cNvSpPr>
            <a:spLocks xmlns:a="http://schemas.openxmlformats.org/drawingml/2006/main" noGrp="1"/>
          </p:cNvSpPr>
          <p:nvPr/>
        </p:nvSpPr>
        <p:spPr>
          <a:xfrm xmlns:a="http://schemas.openxmlformats.org/drawingml/2006/main">
            <a:off x="685800" y="36671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Measure completion, missing-information returns and time to first review.</a:t>
            </a:r>
          </a:p>
        </p:txBody>
      </p:sp>
      <p:sp>
        <p:nvSpPr>
          <p:cNvPr id="6" name="">
            <a:extLst xmlns:a="http://schemas.openxmlformats.org/drawingml/2006/main">
              <a:ext uri="{FF2B5EF4-FFF2-40B4-BE49-F238E27FC236}">
                <a16:creationId xmlns:a16="http://schemas.microsoft.com/office/drawing/2014/main" id="{ED090587-2A3F-45D7-99C8-990058A77258}"/>
              </a:ext>
            </a:extLst>
          </p:cNvPr>
          <p:cNvSpPr>
            <a:spLocks xmlns:a="http://schemas.openxmlformats.org/drawingml/2006/main" noGrp="1"/>
          </p:cNvSpPr>
          <p:nvPr/>
        </p:nvSpPr>
        <p:spPr>
          <a:xfrm xmlns:a="http://schemas.openxmlformats.org/drawingml/2006/main">
            <a:off x="685800" y="56197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F36"/>
                </a:solidFill>
                <a:latin typeface="Helvetica Neue"/>
                <a:ea typeface="Helvetica Neue"/>
                <a:cs typeface="Helvetica Neue"/>
              </a:defRPr>
            </a:pPr>
            <a:r>
              <a:rPr sz="1800" b="1">
                <a:solidFill>
                  <a:srgbClr val="183F36"/>
                </a:solidFill>
                <a:latin typeface="Helvetica Neue"/>
                <a:ea typeface="Helvetica Neue"/>
                <a:cs typeface="Helvetica Neue"/>
              </a:rPr>
              <a:t>Business value needs a baseline and a named process owner</a:t>
            </a:r>
          </a:p>
        </p:txBody>
      </p:sp>
    </p:spTree>
    <p:extLst>
      <p:ext uri="{BB962C8B-B14F-4D97-AF65-F5344CB8AC3E}">
        <p14:creationId xmlns:p14="http://schemas.microsoft.com/office/powerpoint/2010/main" val="650000762"/>
      </p:ext>
    </p:extLst>
  </p:cSld>
</p:sld>
</file>

<file path=ppt/slides/slide3.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128243D-B919-4341-B0C0-A1795F4720F2}"/>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33B36"/>
                </a:solidFill>
                <a:latin typeface="Helvetica Neue"/>
                <a:ea typeface="Helvetica Neue"/>
                <a:cs typeface="Helvetica Neue"/>
              </a:defRPr>
            </a:pPr>
            <a:r>
              <a:rPr sz="1350" b="0">
                <a:solidFill>
                  <a:srgbClr val="233B36"/>
                </a:solidFill>
                <a:latin typeface="Helvetica Neue"/>
                <a:ea typeface="Helvetica Neue"/>
                <a:cs typeface="Helvetica Neue"/>
              </a:rPr>
              <a:t>03 / 15</a:t>
            </a:r>
          </a:p>
        </p:txBody>
      </p:sp>
      <p:sp>
        <p:nvSpPr>
          <p:cNvPr id="2" name="">
            <a:extLst xmlns:a="http://schemas.openxmlformats.org/drawingml/2006/main">
              <a:ext uri="{FF2B5EF4-FFF2-40B4-BE49-F238E27FC236}">
                <a16:creationId xmlns:a16="http://schemas.microsoft.com/office/drawing/2014/main" id="{2A8B4B42-1819-4185-94E9-B71C1FF0FB21}"/>
              </a:ext>
            </a:extLst>
          </p:cNvPr>
          <p:cNvSpPr>
            <a:spLocks xmlns:a="http://schemas.openxmlformats.org/drawingml/2006/main" noGrp="1"/>
          </p:cNvSpPr>
          <p:nvPr/>
        </p:nvSpPr>
        <p:spPr>
          <a:xfrm xmlns:a="http://schemas.openxmlformats.org/drawingml/2006/main">
            <a:off x="685800" y="495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33B36"/>
                </a:solidFill>
                <a:latin typeface="Helvetica Neue"/>
                <a:ea typeface="Helvetica Neue"/>
                <a:cs typeface="Helvetica Neue"/>
              </a:defRPr>
            </a:pPr>
            <a:r>
              <a:rPr sz="3450" b="1">
                <a:solidFill>
                  <a:srgbClr val="233B36"/>
                </a:solidFill>
                <a:latin typeface="Helvetica Neue"/>
                <a:ea typeface="Helvetica Neue"/>
                <a:cs typeface="Helvetica Neue"/>
              </a:rPr>
              <a:t>Discovery and scope</a:t>
            </a:r>
          </a:p>
        </p:txBody>
      </p:sp>
      <p:sp>
        <p:nvSpPr>
          <p:cNvPr id="3" name="">
            <a:extLst xmlns:a="http://schemas.openxmlformats.org/drawingml/2006/main">
              <a:ext uri="{FF2B5EF4-FFF2-40B4-BE49-F238E27FC236}">
                <a16:creationId xmlns:a16="http://schemas.microsoft.com/office/drawing/2014/main" id="{C639CC8A-C783-46E2-8C42-58985A04D6FF}"/>
              </a:ext>
            </a:extLst>
          </p:cNvPr>
          <p:cNvSpPr>
            <a:spLocks xmlns:a="http://schemas.openxmlformats.org/drawingml/2006/main" noGrp="1"/>
          </p:cNvSpPr>
          <p:nvPr/>
        </p:nvSpPr>
        <p:spPr>
          <a:xfrm xmlns:a="http://schemas.openxmlformats.org/drawingml/2006/main">
            <a:off x="685800" y="16668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Confirmed need: conditions, files, drafts, approvals, languages and audit.</a:t>
            </a:r>
          </a:p>
        </p:txBody>
      </p:sp>
      <p:sp>
        <p:nvSpPr>
          <p:cNvPr id="4" name="">
            <a:extLst xmlns:a="http://schemas.openxmlformats.org/drawingml/2006/main">
              <a:ext uri="{FF2B5EF4-FFF2-40B4-BE49-F238E27FC236}">
                <a16:creationId xmlns:a16="http://schemas.microsoft.com/office/drawing/2014/main" id="{F24A4C2B-0FE1-4206-A3D1-F03CA018F679}"/>
              </a:ext>
            </a:extLst>
          </p:cNvPr>
          <p:cNvSpPr>
            <a:spLocks xmlns:a="http://schemas.openxmlformats.org/drawingml/2006/main" noGrp="1"/>
          </p:cNvSpPr>
          <p:nvPr/>
        </p:nvSpPr>
        <p:spPr>
          <a:xfrm xmlns:a="http://schemas.openxmlformats.org/drawingml/2006/main">
            <a:off x="685800" y="2667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Working assumption: the product already owns identity, permissions and APIs.</a:t>
            </a:r>
          </a:p>
        </p:txBody>
      </p:sp>
      <p:sp>
        <p:nvSpPr>
          <p:cNvPr id="5" name="">
            <a:extLst xmlns:a="http://schemas.openxmlformats.org/drawingml/2006/main">
              <a:ext uri="{FF2B5EF4-FFF2-40B4-BE49-F238E27FC236}">
                <a16:creationId xmlns:a16="http://schemas.microsoft.com/office/drawing/2014/main" id="{2BF76640-499A-49D5-84F6-5661C72E3AC6}"/>
              </a:ext>
            </a:extLst>
          </p:cNvPr>
          <p:cNvSpPr>
            <a:spLocks xmlns:a="http://schemas.openxmlformats.org/drawingml/2006/main" noGrp="1"/>
          </p:cNvSpPr>
          <p:nvPr/>
        </p:nvSpPr>
        <p:spPr>
          <a:xfrm xmlns:a="http://schemas.openxmlformats.org/drawingml/2006/main">
            <a:off x="685800" y="36671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Discovery decisions: role scope, approval policy, file retention and publishing authority.</a:t>
            </a:r>
          </a:p>
        </p:txBody>
      </p:sp>
      <p:sp>
        <p:nvSpPr>
          <p:cNvPr id="6" name="">
            <a:extLst xmlns:a="http://schemas.openxmlformats.org/drawingml/2006/main">
              <a:ext uri="{FF2B5EF4-FFF2-40B4-BE49-F238E27FC236}">
                <a16:creationId xmlns:a16="http://schemas.microsoft.com/office/drawing/2014/main" id="{FAA253F7-F6D8-4492-AB69-EAC91C1200BE}"/>
              </a:ext>
            </a:extLst>
          </p:cNvPr>
          <p:cNvSpPr>
            <a:spLocks xmlns:a="http://schemas.openxmlformats.org/drawingml/2006/main" noGrp="1"/>
          </p:cNvSpPr>
          <p:nvPr/>
        </p:nvSpPr>
        <p:spPr>
          <a:xfrm xmlns:a="http://schemas.openxmlformats.org/drawingml/2006/main">
            <a:off x="685800" y="46672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Pilot scope: one request process with representative users and clear acceptance criteria.</a:t>
            </a:r>
          </a:p>
        </p:txBody>
      </p:sp>
    </p:spTree>
    <p:extLst>
      <p:ext uri="{BB962C8B-B14F-4D97-AF65-F5344CB8AC3E}">
        <p14:creationId xmlns:p14="http://schemas.microsoft.com/office/powerpoint/2010/main" val="31591938"/>
      </p:ext>
    </p:extLst>
  </p:cSld>
</p:sld>
</file>

<file path=ppt/slides/slide4.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68665E9-8512-4781-8579-E0FF6BD3567B}"/>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33B36"/>
                </a:solidFill>
                <a:latin typeface="Helvetica Neue"/>
                <a:ea typeface="Helvetica Neue"/>
                <a:cs typeface="Helvetica Neue"/>
              </a:defRPr>
            </a:pPr>
            <a:r>
              <a:rPr sz="1350" b="0">
                <a:solidFill>
                  <a:srgbClr val="233B36"/>
                </a:solidFill>
                <a:latin typeface="Helvetica Neue"/>
                <a:ea typeface="Helvetica Neue"/>
                <a:cs typeface="Helvetica Neue"/>
              </a:rPr>
              <a:t>04 / 15</a:t>
            </a:r>
          </a:p>
        </p:txBody>
      </p:sp>
      <p:sp>
        <p:nvSpPr>
          <p:cNvPr id="2" name="">
            <a:extLst xmlns:a="http://schemas.openxmlformats.org/drawingml/2006/main">
              <a:ext uri="{FF2B5EF4-FFF2-40B4-BE49-F238E27FC236}">
                <a16:creationId xmlns:a16="http://schemas.microsoft.com/office/drawing/2014/main" id="{07DD86A0-C0D9-4523-AE04-86F928B3DADB}"/>
              </a:ext>
            </a:extLst>
          </p:cNvPr>
          <p:cNvSpPr>
            <a:spLocks xmlns:a="http://schemas.openxmlformats.org/drawingml/2006/main" noGrp="1"/>
          </p:cNvSpPr>
          <p:nvPr/>
        </p:nvSpPr>
        <p:spPr>
          <a:xfrm xmlns:a="http://schemas.openxmlformats.org/drawingml/2006/main">
            <a:off x="685800" y="495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33B36"/>
                </a:solidFill>
                <a:latin typeface="Helvetica Neue"/>
                <a:ea typeface="Helvetica Neue"/>
                <a:cs typeface="Helvetica Neue"/>
              </a:defRPr>
            </a:pPr>
            <a:r>
              <a:rPr sz="3450" b="1">
                <a:solidFill>
                  <a:srgbClr val="233B36"/>
                </a:solidFill>
                <a:latin typeface="Helvetica Neue"/>
                <a:ea typeface="Helvetica Neue"/>
                <a:cs typeface="Helvetica Neue"/>
              </a:rPr>
              <a:t>The request journey</a:t>
            </a:r>
          </a:p>
        </p:txBody>
      </p:sp>
      <p:sp>
        <p:nvSpPr>
          <p:cNvPr id="3" name="">
            <a:extLst xmlns:a="http://schemas.openxmlformats.org/drawingml/2006/main">
              <a:ext uri="{FF2B5EF4-FFF2-40B4-BE49-F238E27FC236}">
                <a16:creationId xmlns:a16="http://schemas.microsoft.com/office/drawing/2014/main" id="{F2FA7E7F-090F-4373-835C-AB33802B3C81}"/>
              </a:ext>
            </a:extLst>
          </p:cNvPr>
          <p:cNvSpPr>
            <a:spLocks xmlns:a="http://schemas.openxmlformats.org/drawingml/2006/main" noGrp="1"/>
          </p:cNvSpPr>
          <p:nvPr/>
        </p:nvSpPr>
        <p:spPr>
          <a:xfrm xmlns:a="http://schemas.openxmlformats.org/drawingml/2006/main">
            <a:off x="685800" y="1714500"/>
            <a:ext cx="4143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B36"/>
                </a:solidFill>
                <a:latin typeface="Helvetica Neue"/>
                <a:ea typeface="Helvetica Neue"/>
                <a:cs typeface="Helvetica Neue"/>
              </a:defRPr>
            </a:pPr>
            <a:r>
              <a:rPr sz="2025" b="0">
                <a:solidFill>
                  <a:srgbClr val="233B36"/>
                </a:solidFill>
                <a:latin typeface="Helvetica Neue"/>
                <a:ea typeface="Helvetica Neue"/>
                <a:cs typeface="Helvetica Neue"/>
              </a:rPr>
              <a:t>Select a form and request type</a:t>
            </a:r>
          </a:p>
        </p:txBody>
      </p:sp>
      <p:sp>
        <p:nvSpPr>
          <p:cNvPr id="4" name="">
            <a:extLst xmlns:a="http://schemas.openxmlformats.org/drawingml/2006/main">
              <a:ext uri="{FF2B5EF4-FFF2-40B4-BE49-F238E27FC236}">
                <a16:creationId xmlns:a16="http://schemas.microsoft.com/office/drawing/2014/main" id="{AAA9C97D-36D8-46B0-9B86-516E21DC0F90}"/>
              </a:ext>
            </a:extLst>
          </p:cNvPr>
          <p:cNvSpPr>
            <a:spLocks xmlns:a="http://schemas.openxmlformats.org/drawingml/2006/main" noGrp="1"/>
          </p:cNvSpPr>
          <p:nvPr/>
        </p:nvSpPr>
        <p:spPr>
          <a:xfrm xmlns:a="http://schemas.openxmlformats.org/drawingml/2006/main">
            <a:off x="685800" y="2743200"/>
            <a:ext cx="4143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B36"/>
                </a:solidFill>
                <a:latin typeface="Helvetica Neue"/>
                <a:ea typeface="Helvetica Neue"/>
                <a:cs typeface="Helvetica Neue"/>
              </a:defRPr>
            </a:pPr>
            <a:r>
              <a:rPr sz="2025" b="0">
                <a:solidFill>
                  <a:srgbClr val="233B36"/>
                </a:solidFill>
                <a:latin typeface="Helvetica Neue"/>
                <a:ea typeface="Helvetica Neue"/>
                <a:cs typeface="Helvetica Neue"/>
              </a:rPr>
              <a:t>Save a draft and reload</a:t>
            </a:r>
          </a:p>
        </p:txBody>
      </p:sp>
      <p:sp>
        <p:nvSpPr>
          <p:cNvPr id="5" name="">
            <a:extLst xmlns:a="http://schemas.openxmlformats.org/drawingml/2006/main">
              <a:ext uri="{FF2B5EF4-FFF2-40B4-BE49-F238E27FC236}">
                <a16:creationId xmlns:a16="http://schemas.microsoft.com/office/drawing/2014/main" id="{12568ABB-30EB-4CA6-8FB9-0E4A4FB9E73C}"/>
              </a:ext>
            </a:extLst>
          </p:cNvPr>
          <p:cNvSpPr>
            <a:spLocks xmlns:a="http://schemas.openxmlformats.org/drawingml/2006/main" noGrp="1"/>
          </p:cNvSpPr>
          <p:nvPr/>
        </p:nvSpPr>
        <p:spPr>
          <a:xfrm xmlns:a="http://schemas.openxmlformats.org/drawingml/2006/main">
            <a:off x="685800" y="3771900"/>
            <a:ext cx="4143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B36"/>
                </a:solidFill>
                <a:latin typeface="Helvetica Neue"/>
                <a:ea typeface="Helvetica Neue"/>
                <a:cs typeface="Helvetica Neue"/>
              </a:defRPr>
            </a:pPr>
            <a:r>
              <a:rPr sz="2025" b="0">
                <a:solidFill>
                  <a:srgbClr val="233B36"/>
                </a:solidFill>
                <a:latin typeface="Helvetica Neue"/>
                <a:ea typeface="Helvetica Neue"/>
                <a:cs typeface="Helvetica Neue"/>
              </a:rPr>
              <a:t>Attach files and submit</a:t>
            </a:r>
          </a:p>
        </p:txBody>
      </p:sp>
      <p:sp>
        <p:nvSpPr>
          <p:cNvPr id="6" name="">
            <a:extLst xmlns:a="http://schemas.openxmlformats.org/drawingml/2006/main">
              <a:ext uri="{FF2B5EF4-FFF2-40B4-BE49-F238E27FC236}">
                <a16:creationId xmlns:a16="http://schemas.microsoft.com/office/drawing/2014/main" id="{C49AC718-4D85-4D1D-8D09-73A3BDFC21E9}"/>
              </a:ext>
            </a:extLst>
          </p:cNvPr>
          <p:cNvSpPr>
            <a:spLocks xmlns:a="http://schemas.openxmlformats.org/drawingml/2006/main" noGrp="1"/>
          </p:cNvSpPr>
          <p:nvPr/>
        </p:nvSpPr>
        <p:spPr>
          <a:xfrm xmlns:a="http://schemas.openxmlformats.org/drawingml/2006/main">
            <a:off x="685800" y="4800600"/>
            <a:ext cx="4143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B36"/>
                </a:solidFill>
                <a:latin typeface="Helvetica Neue"/>
                <a:ea typeface="Helvetica Neue"/>
                <a:cs typeface="Helvetica Neue"/>
              </a:defRPr>
            </a:pPr>
            <a:r>
              <a:rPr sz="2025" b="0">
                <a:solidFill>
                  <a:srgbClr val="233B36"/>
                </a:solidFill>
                <a:latin typeface="Helvetica Neue"/>
                <a:ea typeface="Helvetica Neue"/>
                <a:cs typeface="Helvetica Neue"/>
              </a:rPr>
              <a:t>Review the decision and audit</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20e99710ef64146"/>
          <a:stretch xmlns:a="http://schemas.openxmlformats.org/drawingml/2006/main"/>
        </p:blipFill>
        <p:spPr>
          <a:xfrm xmlns:a="http://schemas.openxmlformats.org/drawingml/2006/main">
            <a:off x="5338605" y="1619250"/>
            <a:ext cx="6162989" cy="4381500"/>
          </a:xfrm>
          <a:prstGeom xmlns:a="http://schemas.openxmlformats.org/drawingml/2006/main" prst="rect">
            <a:avLst/>
          </a:prstGeom>
        </p:spPr>
      </p:pic>
    </p:spTree>
    <p:extLst>
      <p:ext uri="{BB962C8B-B14F-4D97-AF65-F5344CB8AC3E}">
        <p14:creationId xmlns:p14="http://schemas.microsoft.com/office/powerpoint/2010/main" val="1896875691"/>
      </p:ext>
    </p:extLst>
  </p:cSld>
</p:sld>
</file>

<file path=ppt/slides/slide5.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BB9BACB-7293-4984-BC3E-E8B62B17D6ED}"/>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33B36"/>
                </a:solidFill>
                <a:latin typeface="Helvetica Neue"/>
                <a:ea typeface="Helvetica Neue"/>
                <a:cs typeface="Helvetica Neue"/>
              </a:defRPr>
            </a:pPr>
            <a:r>
              <a:rPr sz="1350" b="0">
                <a:solidFill>
                  <a:srgbClr val="233B36"/>
                </a:solidFill>
                <a:latin typeface="Helvetica Neue"/>
                <a:ea typeface="Helvetica Neue"/>
                <a:cs typeface="Helvetica Neue"/>
              </a:rPr>
              <a:t>05 / 15</a:t>
            </a:r>
          </a:p>
        </p:txBody>
      </p:sp>
      <p:sp>
        <p:nvSpPr>
          <p:cNvPr id="2" name="">
            <a:extLst xmlns:a="http://schemas.openxmlformats.org/drawingml/2006/main">
              <a:ext uri="{FF2B5EF4-FFF2-40B4-BE49-F238E27FC236}">
                <a16:creationId xmlns:a16="http://schemas.microsoft.com/office/drawing/2014/main" id="{C6A97749-69A1-4F3D-AFF7-EA45EBA69FDE}"/>
              </a:ext>
            </a:extLst>
          </p:cNvPr>
          <p:cNvSpPr>
            <a:spLocks xmlns:a="http://schemas.openxmlformats.org/drawingml/2006/main" noGrp="1"/>
          </p:cNvSpPr>
          <p:nvPr/>
        </p:nvSpPr>
        <p:spPr>
          <a:xfrm xmlns:a="http://schemas.openxmlformats.org/drawingml/2006/main">
            <a:off x="685800" y="495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33B36"/>
                </a:solidFill>
                <a:latin typeface="Helvetica Neue"/>
                <a:ea typeface="Helvetica Neue"/>
                <a:cs typeface="Helvetica Neue"/>
              </a:defRPr>
            </a:pPr>
            <a:r>
              <a:rPr sz="3450" b="1">
                <a:solidFill>
                  <a:srgbClr val="233B36"/>
                </a:solidFill>
                <a:latin typeface="Helvetica Neue"/>
                <a:ea typeface="Helvetica Neue"/>
                <a:cs typeface="Helvetica Neue"/>
              </a:rPr>
              <a:t>Application architecture</a:t>
            </a:r>
          </a:p>
        </p:txBody>
      </p:sp>
      <p:sp>
        <p:nvSpPr>
          <p:cNvPr id="3" name="">
            <a:extLst xmlns:a="http://schemas.openxmlformats.org/drawingml/2006/main">
              <a:ext uri="{FF2B5EF4-FFF2-40B4-BE49-F238E27FC236}">
                <a16:creationId xmlns:a16="http://schemas.microsoft.com/office/drawing/2014/main" id="{2D199835-21A2-4970-B5AF-08E73B0089BE}"/>
              </a:ext>
            </a:extLst>
          </p:cNvPr>
          <p:cNvSpPr>
            <a:spLocks xmlns:a="http://schemas.openxmlformats.org/drawingml/2006/main" noGrp="1"/>
          </p:cNvSpPr>
          <p:nvPr/>
        </p:nvSpPr>
        <p:spPr>
          <a:xfrm xmlns:a="http://schemas.openxmlformats.org/drawingml/2006/main">
            <a:off x="685800" y="1666875"/>
            <a:ext cx="2952750" cy="952500"/>
          </a:xfrm>
          <a:prstGeom xmlns:a="http://schemas.openxmlformats.org/drawingml/2006/main" prst="rect">
            <a:avLst/>
          </a:prstGeom>
          <a:solidFill xmlns:a="http://schemas.openxmlformats.org/drawingml/2006/main">
            <a:srgbClr val="E8EFEA"/>
          </a:solidFill>
          <a:ln xmlns:a="http://schemas.openxmlformats.org/drawingml/2006/main" w="9525">
            <a:solidFill>
              <a:srgbClr val="183F36"/>
            </a:solidFill>
          </a:ln>
        </p:spPr>
      </p:sp>
      <p:sp>
        <p:nvSpPr>
          <p:cNvPr id="4" name="">
            <a:extLst xmlns:a="http://schemas.openxmlformats.org/drawingml/2006/main">
              <a:ext uri="{FF2B5EF4-FFF2-40B4-BE49-F238E27FC236}">
                <a16:creationId xmlns:a16="http://schemas.microsoft.com/office/drawing/2014/main" id="{2CC126A3-9122-462E-A814-32E9FA2E2BA0}"/>
              </a:ext>
            </a:extLst>
          </p:cNvPr>
          <p:cNvSpPr>
            <a:spLocks xmlns:a="http://schemas.openxmlformats.org/drawingml/2006/main" noGrp="1"/>
          </p:cNvSpPr>
          <p:nvPr/>
        </p:nvSpPr>
        <p:spPr>
          <a:xfrm xmlns:a="http://schemas.openxmlformats.org/drawingml/2006/main">
            <a:off x="762000" y="1762125"/>
            <a:ext cx="28003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React shell</a:t>
            </a:r>
          </a:p>
          <a:p xmlns:a="http://schemas.openxmlformats.org/drawingml/2006/main">
            <a:pPr>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State · locale · HTTP</a:t>
            </a:r>
          </a:p>
        </p:txBody>
      </p:sp>
      <p:sp>
        <p:nvSpPr>
          <p:cNvPr id="5" name="">
            <a:extLst xmlns:a="http://schemas.openxmlformats.org/drawingml/2006/main">
              <a:ext uri="{FF2B5EF4-FFF2-40B4-BE49-F238E27FC236}">
                <a16:creationId xmlns:a16="http://schemas.microsoft.com/office/drawing/2014/main" id="{AFCBB24E-D6A0-4BB6-A598-8FF02966865B}"/>
              </a:ext>
            </a:extLst>
          </p:cNvPr>
          <p:cNvSpPr>
            <a:spLocks xmlns:a="http://schemas.openxmlformats.org/drawingml/2006/main" noGrp="1"/>
          </p:cNvSpPr>
          <p:nvPr/>
        </p:nvSpPr>
        <p:spPr>
          <a:xfrm xmlns:a="http://schemas.openxmlformats.org/drawingml/2006/main">
            <a:off x="4476750" y="1666875"/>
            <a:ext cx="2857500" cy="952500"/>
          </a:xfrm>
          <a:prstGeom xmlns:a="http://schemas.openxmlformats.org/drawingml/2006/main" prst="rect">
            <a:avLst/>
          </a:prstGeom>
          <a:solidFill xmlns:a="http://schemas.openxmlformats.org/drawingml/2006/main">
            <a:srgbClr val="E8EFEA"/>
          </a:solidFill>
          <a:ln xmlns:a="http://schemas.openxmlformats.org/drawingml/2006/main" w="9525">
            <a:solidFill>
              <a:srgbClr val="183F36"/>
            </a:solidFill>
          </a:ln>
        </p:spPr>
      </p:sp>
      <p:sp>
        <p:nvSpPr>
          <p:cNvPr id="6" name="">
            <a:extLst xmlns:a="http://schemas.openxmlformats.org/drawingml/2006/main">
              <a:ext uri="{FF2B5EF4-FFF2-40B4-BE49-F238E27FC236}">
                <a16:creationId xmlns:a16="http://schemas.microsoft.com/office/drawing/2014/main" id="{8F8CABA2-95F4-4882-B5BA-42EF623973A3}"/>
              </a:ext>
            </a:extLst>
          </p:cNvPr>
          <p:cNvSpPr>
            <a:spLocks xmlns:a="http://schemas.openxmlformats.org/drawingml/2006/main" noGrp="1"/>
          </p:cNvSpPr>
          <p:nvPr/>
        </p:nvSpPr>
        <p:spPr>
          <a:xfrm xmlns:a="http://schemas.openxmlformats.org/drawingml/2006/main">
            <a:off x="4552950" y="1762125"/>
            <a:ext cx="2705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DynamicForm</a:t>
            </a:r>
          </a:p>
          <a:p xmlns:a="http://schemas.openxmlformats.org/drawingml/2006/main">
            <a:pPr>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Renderer lifecycle</a:t>
            </a:r>
          </a:p>
        </p:txBody>
      </p:sp>
      <p:sp>
        <p:nvSpPr>
          <p:cNvPr id="7" name="">
            <a:extLst xmlns:a="http://schemas.openxmlformats.org/drawingml/2006/main">
              <a:ext uri="{FF2B5EF4-FFF2-40B4-BE49-F238E27FC236}">
                <a16:creationId xmlns:a16="http://schemas.microsoft.com/office/drawing/2014/main" id="{CFE810A3-E7A2-4877-BD7F-072B366E72A2}"/>
              </a:ext>
            </a:extLst>
          </p:cNvPr>
          <p:cNvSpPr>
            <a:spLocks xmlns:a="http://schemas.openxmlformats.org/drawingml/2006/main" noGrp="1"/>
          </p:cNvSpPr>
          <p:nvPr/>
        </p:nvSpPr>
        <p:spPr>
          <a:xfrm xmlns:a="http://schemas.openxmlformats.org/drawingml/2006/main">
            <a:off x="8572500" y="1666875"/>
            <a:ext cx="2857500" cy="952500"/>
          </a:xfrm>
          <a:prstGeom xmlns:a="http://schemas.openxmlformats.org/drawingml/2006/main" prst="rect">
            <a:avLst/>
          </a:prstGeom>
          <a:solidFill xmlns:a="http://schemas.openxmlformats.org/drawingml/2006/main">
            <a:srgbClr val="E8EFEA"/>
          </a:solidFill>
          <a:ln xmlns:a="http://schemas.openxmlformats.org/drawingml/2006/main" w="9525">
            <a:solidFill>
              <a:srgbClr val="183F36"/>
            </a:solidFill>
          </a:ln>
        </p:spPr>
      </p:sp>
      <p:sp>
        <p:nvSpPr>
          <p:cNvPr id="8" name="">
            <a:extLst xmlns:a="http://schemas.openxmlformats.org/drawingml/2006/main">
              <a:ext uri="{FF2B5EF4-FFF2-40B4-BE49-F238E27FC236}">
                <a16:creationId xmlns:a16="http://schemas.microsoft.com/office/drawing/2014/main" id="{042BFF65-6535-456F-AE1F-8311958B64E8}"/>
              </a:ext>
            </a:extLst>
          </p:cNvPr>
          <p:cNvSpPr>
            <a:spLocks xmlns:a="http://schemas.openxmlformats.org/drawingml/2006/main" noGrp="1"/>
          </p:cNvSpPr>
          <p:nvPr/>
        </p:nvSpPr>
        <p:spPr>
          <a:xfrm xmlns:a="http://schemas.openxmlformats.org/drawingml/2006/main">
            <a:off x="8648700" y="1762125"/>
            <a:ext cx="2705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Form.io</a:t>
            </a:r>
          </a:p>
          <a:p xmlns:a="http://schemas.openxmlformats.org/drawingml/2006/main">
            <a:pPr>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Basic / legacy</a:t>
            </a:r>
          </a:p>
        </p:txBody>
      </p:sp>
      <p:sp>
        <p:nvSpPr>
          <p:cNvPr id="9" name="">
            <a:extLst xmlns:a="http://schemas.openxmlformats.org/drawingml/2006/main">
              <a:ext uri="{FF2B5EF4-FFF2-40B4-BE49-F238E27FC236}">
                <a16:creationId xmlns:a16="http://schemas.microsoft.com/office/drawing/2014/main" id="{381383B1-6FD0-480A-A978-583FA8C22BF2}"/>
              </a:ext>
            </a:extLst>
          </p:cNvPr>
          <p:cNvSpPr>
            <a:spLocks xmlns:a="http://schemas.openxmlformats.org/drawingml/2006/main" noGrp="1"/>
          </p:cNvSpPr>
          <p:nvPr/>
        </p:nvSpPr>
        <p:spPr>
          <a:xfrm xmlns:a="http://schemas.openxmlformats.org/drawingml/2006/main">
            <a:off x="8572500" y="3476625"/>
            <a:ext cx="2857500" cy="952500"/>
          </a:xfrm>
          <a:prstGeom xmlns:a="http://schemas.openxmlformats.org/drawingml/2006/main" prst="rect">
            <a:avLst/>
          </a:prstGeom>
          <a:solidFill xmlns:a="http://schemas.openxmlformats.org/drawingml/2006/main">
            <a:srgbClr val="E8EFEA"/>
          </a:solidFill>
          <a:ln xmlns:a="http://schemas.openxmlformats.org/drawingml/2006/main" w="9525">
            <a:solidFill>
              <a:srgbClr val="183F36"/>
            </a:solidFill>
          </a:ln>
        </p:spPr>
      </p:sp>
      <p:sp>
        <p:nvSpPr>
          <p:cNvPr id="10" name="">
            <a:extLst xmlns:a="http://schemas.openxmlformats.org/drawingml/2006/main">
              <a:ext uri="{FF2B5EF4-FFF2-40B4-BE49-F238E27FC236}">
                <a16:creationId xmlns:a16="http://schemas.microsoft.com/office/drawing/2014/main" id="{D142400E-B014-4100-B156-77AA8E1AE980}"/>
              </a:ext>
            </a:extLst>
          </p:cNvPr>
          <p:cNvSpPr>
            <a:spLocks xmlns:a="http://schemas.openxmlformats.org/drawingml/2006/main" noGrp="1"/>
          </p:cNvSpPr>
          <p:nvPr/>
        </p:nvSpPr>
        <p:spPr>
          <a:xfrm xmlns:a="http://schemas.openxmlformats.org/drawingml/2006/main">
            <a:off x="8648700" y="3571875"/>
            <a:ext cx="2705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React fields</a:t>
            </a:r>
          </a:p>
          <a:p xmlns:a="http://schemas.openxmlformats.org/drawingml/2006/main">
            <a:pPr>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Structured schemas</a:t>
            </a:r>
          </a:p>
        </p:txBody>
      </p:sp>
      <p:sp>
        <p:nvSpPr>
          <p:cNvPr id="11" name="">
            <a:extLst xmlns:a="http://schemas.openxmlformats.org/drawingml/2006/main">
              <a:ext uri="{FF2B5EF4-FFF2-40B4-BE49-F238E27FC236}">
                <a16:creationId xmlns:a16="http://schemas.microsoft.com/office/drawing/2014/main" id="{001415AE-8AC0-48B5-B2E9-04902F481C98}"/>
              </a:ext>
            </a:extLst>
          </p:cNvPr>
          <p:cNvSpPr>
            <a:spLocks xmlns:a="http://schemas.openxmlformats.org/drawingml/2006/main" noGrp="1"/>
          </p:cNvSpPr>
          <p:nvPr/>
        </p:nvSpPr>
        <p:spPr>
          <a:xfrm xmlns:a="http://schemas.openxmlformats.org/drawingml/2006/main">
            <a:off x="685800" y="3476625"/>
            <a:ext cx="2952750" cy="952500"/>
          </a:xfrm>
          <a:prstGeom xmlns:a="http://schemas.openxmlformats.org/drawingml/2006/main" prst="rect">
            <a:avLst/>
          </a:prstGeom>
          <a:solidFill xmlns:a="http://schemas.openxmlformats.org/drawingml/2006/main">
            <a:srgbClr val="E8EFEA"/>
          </a:solidFill>
          <a:ln xmlns:a="http://schemas.openxmlformats.org/drawingml/2006/main" w="9525">
            <a:solidFill>
              <a:srgbClr val="183F36"/>
            </a:solidFill>
          </a:ln>
        </p:spPr>
      </p:sp>
      <p:sp>
        <p:nvSpPr>
          <p:cNvPr id="12" name="">
            <a:extLst xmlns:a="http://schemas.openxmlformats.org/drawingml/2006/main">
              <a:ext uri="{FF2B5EF4-FFF2-40B4-BE49-F238E27FC236}">
                <a16:creationId xmlns:a16="http://schemas.microsoft.com/office/drawing/2014/main" id="{73648ABB-BF49-4B95-BC0F-DF702879D3EB}"/>
              </a:ext>
            </a:extLst>
          </p:cNvPr>
          <p:cNvSpPr>
            <a:spLocks xmlns:a="http://schemas.openxmlformats.org/drawingml/2006/main" noGrp="1"/>
          </p:cNvSpPr>
          <p:nvPr/>
        </p:nvSpPr>
        <p:spPr>
          <a:xfrm xmlns:a="http://schemas.openxmlformats.org/drawingml/2006/main">
            <a:off x="762000" y="3571875"/>
            <a:ext cx="28003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API authority</a:t>
            </a:r>
          </a:p>
          <a:p xmlns:a="http://schemas.openxmlformats.org/drawingml/2006/main">
            <a:pPr>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Policy · revision</a:t>
            </a:r>
          </a:p>
        </p:txBody>
      </p:sp>
      <p:sp>
        <p:nvSpPr>
          <p:cNvPr id="13" name="">
            <a:extLst xmlns:a="http://schemas.openxmlformats.org/drawingml/2006/main">
              <a:ext uri="{FF2B5EF4-FFF2-40B4-BE49-F238E27FC236}">
                <a16:creationId xmlns:a16="http://schemas.microsoft.com/office/drawing/2014/main" id="{DA78EACF-2265-403B-A309-F188746F7878}"/>
              </a:ext>
            </a:extLst>
          </p:cNvPr>
          <p:cNvSpPr>
            <a:spLocks xmlns:a="http://schemas.openxmlformats.org/drawingml/2006/main" noGrp="1"/>
          </p:cNvSpPr>
          <p:nvPr/>
        </p:nvSpPr>
        <p:spPr>
          <a:xfrm xmlns:a="http://schemas.openxmlformats.org/drawingml/2006/main">
            <a:off x="4476750" y="4857750"/>
            <a:ext cx="2857500" cy="952500"/>
          </a:xfrm>
          <a:prstGeom xmlns:a="http://schemas.openxmlformats.org/drawingml/2006/main" prst="rect">
            <a:avLst/>
          </a:prstGeom>
          <a:solidFill xmlns:a="http://schemas.openxmlformats.org/drawingml/2006/main">
            <a:srgbClr val="E8EFEA"/>
          </a:solidFill>
          <a:ln xmlns:a="http://schemas.openxmlformats.org/drawingml/2006/main" w="9525">
            <a:solidFill>
              <a:srgbClr val="183F36"/>
            </a:solidFill>
          </a:ln>
        </p:spPr>
      </p:sp>
      <p:sp>
        <p:nvSpPr>
          <p:cNvPr id="14" name="">
            <a:extLst xmlns:a="http://schemas.openxmlformats.org/drawingml/2006/main">
              <a:ext uri="{FF2B5EF4-FFF2-40B4-BE49-F238E27FC236}">
                <a16:creationId xmlns:a16="http://schemas.microsoft.com/office/drawing/2014/main" id="{52CB4478-AECC-4CD3-9FED-2A8CFCBB6DB2}"/>
              </a:ext>
            </a:extLst>
          </p:cNvPr>
          <p:cNvSpPr>
            <a:spLocks xmlns:a="http://schemas.openxmlformats.org/drawingml/2006/main" noGrp="1"/>
          </p:cNvSpPr>
          <p:nvPr/>
        </p:nvSpPr>
        <p:spPr>
          <a:xfrm xmlns:a="http://schemas.openxmlformats.org/drawingml/2006/main">
            <a:off x="4552950" y="4953000"/>
            <a:ext cx="2705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Shared custom rules</a:t>
            </a:r>
          </a:p>
          <a:p xmlns:a="http://schemas.openxmlformats.org/drawingml/2006/main">
            <a:pPr>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Visibility + validation</a:t>
            </a:r>
          </a:p>
        </p:txBody>
      </p:sp>
      <p:sp>
        <p:nvSpPr>
          <p:cNvPr id="15" name="">
            <a:extLst xmlns:a="http://schemas.openxmlformats.org/drawingml/2006/main">
              <a:ext uri="{FF2B5EF4-FFF2-40B4-BE49-F238E27FC236}">
                <a16:creationId xmlns:a16="http://schemas.microsoft.com/office/drawing/2014/main" id="{8BCD1BF9-17F3-4958-A580-A5A338025117}"/>
              </a:ext>
            </a:extLst>
          </p:cNvPr>
          <p:cNvSpPr>
            <a:spLocks xmlns:a="http://schemas.openxmlformats.org/drawingml/2006/main" noGrp="1"/>
          </p:cNvSpPr>
          <p:nvPr/>
        </p:nvSpPr>
        <p:spPr>
          <a:xfrm xmlns:a="http://schemas.openxmlformats.org/drawingml/2006/main">
            <a:off x="685800" y="5095875"/>
            <a:ext cx="2952750" cy="952500"/>
          </a:xfrm>
          <a:prstGeom xmlns:a="http://schemas.openxmlformats.org/drawingml/2006/main" prst="rect">
            <a:avLst/>
          </a:prstGeom>
          <a:solidFill xmlns:a="http://schemas.openxmlformats.org/drawingml/2006/main">
            <a:srgbClr val="E8EFEA"/>
          </a:solidFill>
          <a:ln xmlns:a="http://schemas.openxmlformats.org/drawingml/2006/main" w="9525">
            <a:solidFill>
              <a:srgbClr val="183F36"/>
            </a:solidFill>
          </a:ln>
        </p:spPr>
      </p:sp>
      <p:sp>
        <p:nvSpPr>
          <p:cNvPr id="16" name="">
            <a:extLst xmlns:a="http://schemas.openxmlformats.org/drawingml/2006/main">
              <a:ext uri="{FF2B5EF4-FFF2-40B4-BE49-F238E27FC236}">
                <a16:creationId xmlns:a16="http://schemas.microsoft.com/office/drawing/2014/main" id="{1FCF7279-FCFC-4120-856C-EC0D8FBC3420}"/>
              </a:ext>
            </a:extLst>
          </p:cNvPr>
          <p:cNvSpPr>
            <a:spLocks xmlns:a="http://schemas.openxmlformats.org/drawingml/2006/main" noGrp="1"/>
          </p:cNvSpPr>
          <p:nvPr/>
        </p:nvSpPr>
        <p:spPr>
          <a:xfrm xmlns:a="http://schemas.openxmlformats.org/drawingml/2006/main">
            <a:off x="762000" y="5191125"/>
            <a:ext cx="28003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Local stores</a:t>
            </a:r>
          </a:p>
          <a:p xmlns:a="http://schemas.openxmlformats.org/drawingml/2006/main">
            <a:pPr>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Request JSON + files</a:t>
            </a:r>
          </a:p>
        </p:txBody>
      </p:sp>
      <p:sp>
        <p:nvSpPr>
          <p:cNvPr id="17" name="">
            <a:extLst xmlns:a="http://schemas.openxmlformats.org/drawingml/2006/main">
              <a:ext uri="{FF2B5EF4-FFF2-40B4-BE49-F238E27FC236}">
                <a16:creationId xmlns:a16="http://schemas.microsoft.com/office/drawing/2014/main" id="{4070B1EC-2F0D-47D8-B263-EF32D5BF8D05}"/>
              </a:ext>
            </a:extLst>
          </p:cNvPr>
          <p:cNvSpPr>
            <a:spLocks xmlns:a="http://schemas.openxmlformats.org/drawingml/2006/main" noGrp="1"/>
          </p:cNvSpPr>
          <p:nvPr/>
        </p:nvSpPr>
        <p:spPr>
          <a:xfrm xmlns:a="http://schemas.openxmlformats.org/drawingml/2006/main">
            <a:off x="3781425" y="185737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233B36"/>
                </a:solidFill>
                <a:latin typeface="Helvetica Neue"/>
                <a:ea typeface="Helvetica Neue"/>
                <a:cs typeface="Helvetica Neue"/>
              </a:defRPr>
            </a:pPr>
            <a:r>
              <a:rPr sz="3000" b="0">
                <a:solidFill>
                  <a:srgbClr val="233B36"/>
                </a:solidFill>
                <a:latin typeface="Helvetica Neue"/>
                <a:ea typeface="Helvetica Neue"/>
                <a:cs typeface="Helvetica Neue"/>
              </a:rPr>
              <a:t>→</a:t>
            </a:r>
          </a:p>
        </p:txBody>
      </p:sp>
      <p:sp>
        <p:nvSpPr>
          <p:cNvPr id="18" name="">
            <a:extLst xmlns:a="http://schemas.openxmlformats.org/drawingml/2006/main">
              <a:ext uri="{FF2B5EF4-FFF2-40B4-BE49-F238E27FC236}">
                <a16:creationId xmlns:a16="http://schemas.microsoft.com/office/drawing/2014/main" id="{52A80387-4D9C-47EA-B655-186D208D2D27}"/>
              </a:ext>
            </a:extLst>
          </p:cNvPr>
          <p:cNvSpPr>
            <a:spLocks xmlns:a="http://schemas.openxmlformats.org/drawingml/2006/main" noGrp="1"/>
          </p:cNvSpPr>
          <p:nvPr/>
        </p:nvSpPr>
        <p:spPr>
          <a:xfrm xmlns:a="http://schemas.openxmlformats.org/drawingml/2006/main">
            <a:off x="7677150" y="185737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233B36"/>
                </a:solidFill>
                <a:latin typeface="Helvetica Neue"/>
                <a:ea typeface="Helvetica Neue"/>
                <a:cs typeface="Helvetica Neue"/>
              </a:defRPr>
            </a:pPr>
            <a:r>
              <a:rPr sz="3000" b="0">
                <a:solidFill>
                  <a:srgbClr val="233B36"/>
                </a:solidFill>
                <a:latin typeface="Helvetica Neue"/>
                <a:ea typeface="Helvetica Neue"/>
                <a:cs typeface="Helvetica Neue"/>
              </a:rPr>
              <a:t>→</a:t>
            </a:r>
          </a:p>
        </p:txBody>
      </p:sp>
      <p:sp>
        <p:nvSpPr>
          <p:cNvPr id="19" name="">
            <a:extLst xmlns:a="http://schemas.openxmlformats.org/drawingml/2006/main">
              <a:ext uri="{FF2B5EF4-FFF2-40B4-BE49-F238E27FC236}">
                <a16:creationId xmlns:a16="http://schemas.microsoft.com/office/drawing/2014/main" id="{D547C4C0-FC45-40DE-924E-D49ECF103308}"/>
              </a:ext>
            </a:extLst>
          </p:cNvPr>
          <p:cNvSpPr>
            <a:spLocks xmlns:a="http://schemas.openxmlformats.org/drawingml/2006/main" noGrp="1"/>
          </p:cNvSpPr>
          <p:nvPr/>
        </p:nvSpPr>
        <p:spPr>
          <a:xfrm xmlns:a="http://schemas.openxmlformats.org/drawingml/2006/main">
            <a:off x="1714500" y="2809875"/>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233B36"/>
                </a:solidFill>
                <a:latin typeface="Helvetica Neue"/>
                <a:ea typeface="Helvetica Neue"/>
                <a:cs typeface="Helvetica Neue"/>
              </a:defRPr>
            </a:pPr>
            <a:r>
              <a:rPr sz="3000" b="0">
                <a:solidFill>
                  <a:srgbClr val="233B36"/>
                </a:solidFill>
                <a:latin typeface="Helvetica Neue"/>
                <a:ea typeface="Helvetica Neue"/>
                <a:cs typeface="Helvetica Neue"/>
              </a:rPr>
              <a:t>↓</a:t>
            </a:r>
          </a:p>
        </p:txBody>
      </p:sp>
      <p:sp>
        <p:nvSpPr>
          <p:cNvPr id="20" name="">
            <a:extLst xmlns:a="http://schemas.openxmlformats.org/drawingml/2006/main">
              <a:ext uri="{FF2B5EF4-FFF2-40B4-BE49-F238E27FC236}">
                <a16:creationId xmlns:a16="http://schemas.microsoft.com/office/drawing/2014/main" id="{3443F84C-54D9-4899-BC8F-FF1F294BA92F}"/>
              </a:ext>
            </a:extLst>
          </p:cNvPr>
          <p:cNvSpPr>
            <a:spLocks xmlns:a="http://schemas.openxmlformats.org/drawingml/2006/main" noGrp="1"/>
          </p:cNvSpPr>
          <p:nvPr/>
        </p:nvSpPr>
        <p:spPr>
          <a:xfrm xmlns:a="http://schemas.openxmlformats.org/drawingml/2006/main">
            <a:off x="1714500" y="4476750"/>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233B36"/>
                </a:solidFill>
                <a:latin typeface="Helvetica Neue"/>
                <a:ea typeface="Helvetica Neue"/>
                <a:cs typeface="Helvetica Neue"/>
              </a:defRPr>
            </a:pPr>
            <a:r>
              <a:rPr sz="3000" b="0">
                <a:solidFill>
                  <a:srgbClr val="233B36"/>
                </a:solidFill>
                <a:latin typeface="Helvetica Neue"/>
                <a:ea typeface="Helvetica Neue"/>
                <a:cs typeface="Helvetica Neue"/>
              </a:rPr>
              <a:t>↓</a:t>
            </a:r>
          </a:p>
        </p:txBody>
      </p:sp>
      <p:sp>
        <p:nvSpPr>
          <p:cNvPr id="21" name="">
            <a:extLst xmlns:a="http://schemas.openxmlformats.org/drawingml/2006/main">
              <a:ext uri="{FF2B5EF4-FFF2-40B4-BE49-F238E27FC236}">
                <a16:creationId xmlns:a16="http://schemas.microsoft.com/office/drawing/2014/main" id="{D584D134-0AE4-4929-B362-7BF5907D1409}"/>
              </a:ext>
            </a:extLst>
          </p:cNvPr>
          <p:cNvSpPr>
            <a:spLocks xmlns:a="http://schemas.openxmlformats.org/drawingml/2006/main" noGrp="1"/>
          </p:cNvSpPr>
          <p:nvPr/>
        </p:nvSpPr>
        <p:spPr>
          <a:xfrm xmlns:a="http://schemas.openxmlformats.org/drawingml/2006/main">
            <a:off x="9715500" y="290512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OR</a:t>
            </a:r>
          </a:p>
        </p:txBody>
      </p:sp>
      <p:sp>
        <p:nvSpPr>
          <p:cNvPr id="22" name="">
            <a:extLst xmlns:a="http://schemas.openxmlformats.org/drawingml/2006/main">
              <a:ext uri="{FF2B5EF4-FFF2-40B4-BE49-F238E27FC236}">
                <a16:creationId xmlns:a16="http://schemas.microsoft.com/office/drawing/2014/main" id="{0EE5E076-A073-4D57-AF25-32B44CDF04AB}"/>
              </a:ext>
            </a:extLst>
          </p:cNvPr>
          <p:cNvSpPr>
            <a:spLocks xmlns:a="http://schemas.openxmlformats.org/drawingml/2006/main" noGrp="1"/>
          </p:cNvSpPr>
          <p:nvPr/>
        </p:nvSpPr>
        <p:spPr>
          <a:xfrm xmlns:a="http://schemas.openxmlformats.org/drawingml/2006/main">
            <a:off x="7905750" y="4810125"/>
            <a:ext cx="3619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3B36"/>
                </a:solidFill>
                <a:latin typeface="Helvetica Neue"/>
                <a:ea typeface="Helvetica Neue"/>
                <a:cs typeface="Helvetica Neue"/>
              </a:defRPr>
            </a:pPr>
            <a:r>
              <a:rPr sz="1875" b="0">
                <a:solidFill>
                  <a:srgbClr val="233B36"/>
                </a:solidFill>
                <a:latin typeface="Helvetica Neue"/>
                <a:ea typeface="Helvetica Neue"/>
                <a:cs typeface="Helvetica Neue"/>
              </a:rPr>
              <a:t>Same evaluator used by structured UI and API</a:t>
            </a:r>
          </a:p>
        </p:txBody>
      </p:sp>
    </p:spTree>
    <p:extLst>
      <p:ext uri="{BB962C8B-B14F-4D97-AF65-F5344CB8AC3E}">
        <p14:creationId xmlns:p14="http://schemas.microsoft.com/office/powerpoint/2010/main" val="1478554448"/>
      </p:ext>
    </p:extLst>
  </p:cSld>
</p:sld>
</file>

<file path=ppt/slides/slide6.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D499507-D50C-4A75-B5AA-51112AE3379A}"/>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33B36"/>
                </a:solidFill>
                <a:latin typeface="Helvetica Neue"/>
                <a:ea typeface="Helvetica Neue"/>
                <a:cs typeface="Helvetica Neue"/>
              </a:defRPr>
            </a:pPr>
            <a:r>
              <a:rPr sz="1350" b="0">
                <a:solidFill>
                  <a:srgbClr val="233B36"/>
                </a:solidFill>
                <a:latin typeface="Helvetica Neue"/>
                <a:ea typeface="Helvetica Neue"/>
                <a:cs typeface="Helvetica Neue"/>
              </a:rPr>
              <a:t>06 / 15</a:t>
            </a:r>
          </a:p>
        </p:txBody>
      </p:sp>
      <p:sp>
        <p:nvSpPr>
          <p:cNvPr id="2" name="">
            <a:extLst xmlns:a="http://schemas.openxmlformats.org/drawingml/2006/main">
              <a:ext uri="{FF2B5EF4-FFF2-40B4-BE49-F238E27FC236}">
                <a16:creationId xmlns:a16="http://schemas.microsoft.com/office/drawing/2014/main" id="{A1A0A539-6DD6-4813-9EDE-BF884EE0A4F8}"/>
              </a:ext>
            </a:extLst>
          </p:cNvPr>
          <p:cNvSpPr>
            <a:spLocks xmlns:a="http://schemas.openxmlformats.org/drawingml/2006/main" noGrp="1"/>
          </p:cNvSpPr>
          <p:nvPr/>
        </p:nvSpPr>
        <p:spPr>
          <a:xfrm xmlns:a="http://schemas.openxmlformats.org/drawingml/2006/main">
            <a:off x="685800" y="495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33B36"/>
                </a:solidFill>
                <a:latin typeface="Helvetica Neue"/>
                <a:ea typeface="Helvetica Neue"/>
                <a:cs typeface="Helvetica Neue"/>
              </a:defRPr>
            </a:pPr>
            <a:r>
              <a:rPr sz="3450" b="1">
                <a:solidFill>
                  <a:srgbClr val="233B36"/>
                </a:solidFill>
                <a:latin typeface="Helvetica Neue"/>
                <a:ea typeface="Helvetica Neue"/>
                <a:cs typeface="Helvetica Neue"/>
              </a:rPr>
              <a:t>Form.io integration decisions</a:t>
            </a:r>
          </a:p>
        </p:txBody>
      </p:sp>
      <p:sp>
        <p:nvSpPr>
          <p:cNvPr id="3" name="">
            <a:extLst xmlns:a="http://schemas.openxmlformats.org/drawingml/2006/main">
              <a:ext uri="{FF2B5EF4-FFF2-40B4-BE49-F238E27FC236}">
                <a16:creationId xmlns:a16="http://schemas.microsoft.com/office/drawing/2014/main" id="{9E7EA19A-A592-4467-82D5-AFB321452D06}"/>
              </a:ext>
            </a:extLst>
          </p:cNvPr>
          <p:cNvSpPr>
            <a:spLocks xmlns:a="http://schemas.openxmlformats.org/drawingml/2006/main" noGrp="1"/>
          </p:cNvSpPr>
          <p:nvPr/>
        </p:nvSpPr>
        <p:spPr>
          <a:xfrm xmlns:a="http://schemas.openxmlformats.org/drawingml/2006/main">
            <a:off x="685800" y="16668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A renderer adapter keeps product state separate from form lifecycle.</a:t>
            </a:r>
          </a:p>
        </p:txBody>
      </p:sp>
      <p:sp>
        <p:nvSpPr>
          <p:cNvPr id="4" name="">
            <a:extLst xmlns:a="http://schemas.openxmlformats.org/drawingml/2006/main">
              <a:ext uri="{FF2B5EF4-FFF2-40B4-BE49-F238E27FC236}">
                <a16:creationId xmlns:a16="http://schemas.microsoft.com/office/drawing/2014/main" id="{72253209-8749-46C1-B5E8-941CD615636D}"/>
              </a:ext>
            </a:extLst>
          </p:cNvPr>
          <p:cNvSpPr>
            <a:spLocks xmlns:a="http://schemas.openxmlformats.org/drawingml/2006/main" noGrp="1"/>
          </p:cNvSpPr>
          <p:nvPr/>
        </p:nvSpPr>
        <p:spPr>
          <a:xfrm xmlns:a="http://schemas.openxmlformats.org/drawingml/2006/main">
            <a:off x="685800" y="2667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A restricted schema editor rejects arbitrary author JavaScript.</a:t>
            </a:r>
          </a:p>
        </p:txBody>
      </p:sp>
      <p:sp>
        <p:nvSpPr>
          <p:cNvPr id="5" name="">
            <a:extLst xmlns:a="http://schemas.openxmlformats.org/drawingml/2006/main">
              <a:ext uri="{FF2B5EF4-FFF2-40B4-BE49-F238E27FC236}">
                <a16:creationId xmlns:a16="http://schemas.microsoft.com/office/drawing/2014/main" id="{51747DDA-3430-4EDD-9197-61C04BE07773}"/>
              </a:ext>
            </a:extLst>
          </p:cNvPr>
          <p:cNvSpPr>
            <a:spLocks xmlns:a="http://schemas.openxmlformats.org/drawingml/2006/main" noGrp="1"/>
          </p:cNvSpPr>
          <p:nvPr/>
        </p:nvSpPr>
        <p:spPr>
          <a:xfrm xmlns:a="http://schemas.openxmlformats.org/drawingml/2006/main">
            <a:off x="685800" y="36671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Legacy and basic schemas retain Form.io behavior.</a:t>
            </a:r>
          </a:p>
        </p:txBody>
      </p:sp>
      <p:sp>
        <p:nvSpPr>
          <p:cNvPr id="6" name="">
            <a:extLst xmlns:a="http://schemas.openxmlformats.org/drawingml/2006/main">
              <a:ext uri="{FF2B5EF4-FFF2-40B4-BE49-F238E27FC236}">
                <a16:creationId xmlns:a16="http://schemas.microsoft.com/office/drawing/2014/main" id="{162D797E-0709-4318-B5F2-A20259EC1776}"/>
              </a:ext>
            </a:extLst>
          </p:cNvPr>
          <p:cNvSpPr>
            <a:spLocks xmlns:a="http://schemas.openxmlformats.org/drawingml/2006/main" noGrp="1"/>
          </p:cNvSpPr>
          <p:nvPr/>
        </p:nvSpPr>
        <p:spPr>
          <a:xfrm xmlns:a="http://schemas.openxmlformats.org/drawingml/2006/main">
            <a:off x="685800" y="46672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React structured fields support nesting and shared custom rules.</a:t>
            </a:r>
          </a:p>
        </p:txBody>
      </p:sp>
      <p:sp>
        <p:nvSpPr>
          <p:cNvPr id="7" name="">
            <a:extLst xmlns:a="http://schemas.openxmlformats.org/drawingml/2006/main">
              <a:ext uri="{FF2B5EF4-FFF2-40B4-BE49-F238E27FC236}">
                <a16:creationId xmlns:a16="http://schemas.microsoft.com/office/drawing/2014/main" id="{7F9AA5C6-1768-4AAB-AA63-379365E9B99E}"/>
              </a:ext>
            </a:extLst>
          </p:cNvPr>
          <p:cNvSpPr>
            <a:spLocks xmlns:a="http://schemas.openxmlformats.org/drawingml/2006/main" noGrp="1"/>
          </p:cNvSpPr>
          <p:nvPr/>
        </p:nvSpPr>
        <p:spPr>
          <a:xfrm xmlns:a="http://schemas.openxmlformats.org/drawingml/2006/main">
            <a:off x="685800" y="56197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F36"/>
                </a:solidFill>
                <a:latin typeface="Helvetica Neue"/>
                <a:ea typeface="Helvetica Neue"/>
                <a:cs typeface="Helvetica Neue"/>
              </a:defRPr>
            </a:pPr>
            <a:r>
              <a:rPr sz="1800" b="1">
                <a:solidFill>
                  <a:srgbClr val="183F36"/>
                </a:solidFill>
                <a:latin typeface="Helvetica Neue"/>
                <a:ea typeface="Helvetica Neue"/>
                <a:cs typeface="Helvetica Neue"/>
              </a:rPr>
              <a:t>Trade-off: more renderer maintenance, with clearer validation ownership</a:t>
            </a:r>
          </a:p>
        </p:txBody>
      </p:sp>
    </p:spTree>
    <p:extLst>
      <p:ext uri="{BB962C8B-B14F-4D97-AF65-F5344CB8AC3E}">
        <p14:creationId xmlns:p14="http://schemas.microsoft.com/office/powerpoint/2010/main" val="1023795751"/>
      </p:ext>
    </p:extLst>
  </p:cSld>
</p:sld>
</file>

<file path=ppt/slides/slide7.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5E06CD6-E682-48DA-B8CF-EE967AC9D7B4}"/>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33B36"/>
                </a:solidFill>
                <a:latin typeface="Helvetica Neue"/>
                <a:ea typeface="Helvetica Neue"/>
                <a:cs typeface="Helvetica Neue"/>
              </a:defRPr>
            </a:pPr>
            <a:r>
              <a:rPr sz="1350" b="0">
                <a:solidFill>
                  <a:srgbClr val="233B36"/>
                </a:solidFill>
                <a:latin typeface="Helvetica Neue"/>
                <a:ea typeface="Helvetica Neue"/>
                <a:cs typeface="Helvetica Neue"/>
              </a:rPr>
              <a:t>07 / 15</a:t>
            </a:r>
          </a:p>
        </p:txBody>
      </p:sp>
      <p:sp>
        <p:nvSpPr>
          <p:cNvPr id="2" name="">
            <a:extLst xmlns:a="http://schemas.openxmlformats.org/drawingml/2006/main">
              <a:ext uri="{FF2B5EF4-FFF2-40B4-BE49-F238E27FC236}">
                <a16:creationId xmlns:a16="http://schemas.microsoft.com/office/drawing/2014/main" id="{4FC08017-E511-47BC-8B58-4345E94FE3F9}"/>
              </a:ext>
            </a:extLst>
          </p:cNvPr>
          <p:cNvSpPr>
            <a:spLocks xmlns:a="http://schemas.openxmlformats.org/drawingml/2006/main" noGrp="1"/>
          </p:cNvSpPr>
          <p:nvPr/>
        </p:nvSpPr>
        <p:spPr>
          <a:xfrm xmlns:a="http://schemas.openxmlformats.org/drawingml/2006/main">
            <a:off x="685800" y="495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33B36"/>
                </a:solidFill>
                <a:latin typeface="Helvetica Neue"/>
                <a:ea typeface="Helvetica Neue"/>
                <a:cs typeface="Helvetica Neue"/>
              </a:defRPr>
            </a:pPr>
            <a:r>
              <a:rPr sz="3450" b="1">
                <a:solidFill>
                  <a:srgbClr val="233B36"/>
                </a:solidFill>
                <a:latin typeface="Helvetica Neue"/>
                <a:ea typeface="Helvetica Neue"/>
                <a:cs typeface="Helvetica Neue"/>
              </a:rPr>
              <a:t>Form changes and historical meaning</a:t>
            </a:r>
          </a:p>
        </p:txBody>
      </p:sp>
      <p:sp>
        <p:nvSpPr>
          <p:cNvPr id="3" name="">
            <a:extLst xmlns:a="http://schemas.openxmlformats.org/drawingml/2006/main">
              <a:ext uri="{FF2B5EF4-FFF2-40B4-BE49-F238E27FC236}">
                <a16:creationId xmlns:a16="http://schemas.microsoft.com/office/drawing/2014/main" id="{FBFDA5F2-3662-427C-82D4-BFF2BD40B54B}"/>
              </a:ext>
            </a:extLst>
          </p:cNvPr>
          <p:cNvSpPr>
            <a:spLocks xmlns:a="http://schemas.openxmlformats.org/drawingml/2006/main" noGrp="1"/>
          </p:cNvSpPr>
          <p:nvPr/>
        </p:nvSpPr>
        <p:spPr>
          <a:xfrm xmlns:a="http://schemas.openxmlformats.org/drawingml/2006/main">
            <a:off x="685800" y="1857375"/>
            <a:ext cx="2952750" cy="1047750"/>
          </a:xfrm>
          <a:prstGeom xmlns:a="http://schemas.openxmlformats.org/drawingml/2006/main" prst="rect">
            <a:avLst/>
          </a:prstGeom>
          <a:solidFill xmlns:a="http://schemas.openxmlformats.org/drawingml/2006/main">
            <a:srgbClr val="E8EFEA"/>
          </a:solidFill>
          <a:ln xmlns:a="http://schemas.openxmlformats.org/drawingml/2006/main" w="9525">
            <a:solidFill>
              <a:srgbClr val="183F36"/>
            </a:solidFill>
          </a:ln>
        </p:spPr>
      </p:sp>
      <p:sp>
        <p:nvSpPr>
          <p:cNvPr id="4" name="">
            <a:extLst xmlns:a="http://schemas.openxmlformats.org/drawingml/2006/main">
              <a:ext uri="{FF2B5EF4-FFF2-40B4-BE49-F238E27FC236}">
                <a16:creationId xmlns:a16="http://schemas.microsoft.com/office/drawing/2014/main" id="{3D331A7E-FA4F-43C1-A722-8E23DF4F7352}"/>
              </a:ext>
            </a:extLst>
          </p:cNvPr>
          <p:cNvSpPr>
            <a:spLocks xmlns:a="http://schemas.openxmlformats.org/drawingml/2006/main" noGrp="1"/>
          </p:cNvSpPr>
          <p:nvPr/>
        </p:nvSpPr>
        <p:spPr>
          <a:xfrm xmlns:a="http://schemas.openxmlformats.org/drawingml/2006/main">
            <a:off x="762000" y="1952625"/>
            <a:ext cx="28003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Publish immutable V2</a:t>
            </a:r>
          </a:p>
        </p:txBody>
      </p:sp>
      <p:sp>
        <p:nvSpPr>
          <p:cNvPr id="5" name="">
            <a:extLst xmlns:a="http://schemas.openxmlformats.org/drawingml/2006/main">
              <a:ext uri="{FF2B5EF4-FFF2-40B4-BE49-F238E27FC236}">
                <a16:creationId xmlns:a16="http://schemas.microsoft.com/office/drawing/2014/main" id="{1A87DA69-38D3-4E79-B35D-52732E6F0C3E}"/>
              </a:ext>
            </a:extLst>
          </p:cNvPr>
          <p:cNvSpPr>
            <a:spLocks xmlns:a="http://schemas.openxmlformats.org/drawingml/2006/main" noGrp="1"/>
          </p:cNvSpPr>
          <p:nvPr/>
        </p:nvSpPr>
        <p:spPr>
          <a:xfrm xmlns:a="http://schemas.openxmlformats.org/drawingml/2006/main">
            <a:off x="3810000" y="2095500"/>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233B36"/>
                </a:solidFill>
                <a:latin typeface="Helvetica Neue"/>
                <a:ea typeface="Helvetica Neue"/>
                <a:cs typeface="Helvetica Neue"/>
              </a:defRPr>
            </a:pPr>
            <a:r>
              <a:rPr sz="3000" b="0">
                <a:solidFill>
                  <a:srgbClr val="233B36"/>
                </a:solidFill>
                <a:latin typeface="Helvetica Neue"/>
                <a:ea typeface="Helvetica Neue"/>
                <a:cs typeface="Helvetica Neue"/>
              </a:rPr>
              <a:t>→</a:t>
            </a:r>
          </a:p>
        </p:txBody>
      </p:sp>
      <p:sp>
        <p:nvSpPr>
          <p:cNvPr id="6" name="">
            <a:extLst xmlns:a="http://schemas.openxmlformats.org/drawingml/2006/main">
              <a:ext uri="{FF2B5EF4-FFF2-40B4-BE49-F238E27FC236}">
                <a16:creationId xmlns:a16="http://schemas.microsoft.com/office/drawing/2014/main" id="{10BE48D0-B0FC-492E-88E2-D17E8EB4077C}"/>
              </a:ext>
            </a:extLst>
          </p:cNvPr>
          <p:cNvSpPr>
            <a:spLocks xmlns:a="http://schemas.openxmlformats.org/drawingml/2006/main" noGrp="1"/>
          </p:cNvSpPr>
          <p:nvPr/>
        </p:nvSpPr>
        <p:spPr>
          <a:xfrm xmlns:a="http://schemas.openxmlformats.org/drawingml/2006/main">
            <a:off x="4476750" y="1857375"/>
            <a:ext cx="2857500" cy="1047750"/>
          </a:xfrm>
          <a:prstGeom xmlns:a="http://schemas.openxmlformats.org/drawingml/2006/main" prst="rect">
            <a:avLst/>
          </a:prstGeom>
          <a:solidFill xmlns:a="http://schemas.openxmlformats.org/drawingml/2006/main">
            <a:srgbClr val="E8EFEA"/>
          </a:solidFill>
          <a:ln xmlns:a="http://schemas.openxmlformats.org/drawingml/2006/main" w="9525">
            <a:solidFill>
              <a:srgbClr val="183F36"/>
            </a:solidFill>
          </a:ln>
        </p:spPr>
      </p:sp>
      <p:sp>
        <p:nvSpPr>
          <p:cNvPr id="7" name="">
            <a:extLst xmlns:a="http://schemas.openxmlformats.org/drawingml/2006/main">
              <a:ext uri="{FF2B5EF4-FFF2-40B4-BE49-F238E27FC236}">
                <a16:creationId xmlns:a16="http://schemas.microsoft.com/office/drawing/2014/main" id="{277AF9FA-2805-4B91-A06E-04BFD4108241}"/>
              </a:ext>
            </a:extLst>
          </p:cNvPr>
          <p:cNvSpPr>
            <a:spLocks xmlns:a="http://schemas.openxmlformats.org/drawingml/2006/main" noGrp="1"/>
          </p:cNvSpPr>
          <p:nvPr/>
        </p:nvSpPr>
        <p:spPr>
          <a:xfrm xmlns:a="http://schemas.openxmlformats.org/drawingml/2006/main">
            <a:off x="4552950" y="1952625"/>
            <a:ext cx="2705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Active pointer: V2</a:t>
            </a:r>
          </a:p>
        </p:txBody>
      </p:sp>
      <p:sp>
        <p:nvSpPr>
          <p:cNvPr id="8" name="">
            <a:extLst xmlns:a="http://schemas.openxmlformats.org/drawingml/2006/main">
              <a:ext uri="{FF2B5EF4-FFF2-40B4-BE49-F238E27FC236}">
                <a16:creationId xmlns:a16="http://schemas.microsoft.com/office/drawing/2014/main" id="{42699F4D-7883-4C2E-9A1A-5E1721BCE2DB}"/>
              </a:ext>
            </a:extLst>
          </p:cNvPr>
          <p:cNvSpPr>
            <a:spLocks xmlns:a="http://schemas.openxmlformats.org/drawingml/2006/main" noGrp="1"/>
          </p:cNvSpPr>
          <p:nvPr/>
        </p:nvSpPr>
        <p:spPr>
          <a:xfrm xmlns:a="http://schemas.openxmlformats.org/drawingml/2006/main">
            <a:off x="7667625" y="2095500"/>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233B36"/>
                </a:solidFill>
                <a:latin typeface="Helvetica Neue"/>
                <a:ea typeface="Helvetica Neue"/>
                <a:cs typeface="Helvetica Neue"/>
              </a:defRPr>
            </a:pPr>
            <a:r>
              <a:rPr sz="3000" b="0">
                <a:solidFill>
                  <a:srgbClr val="233B36"/>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0B5E3220-5A1B-40A2-8AD7-E1FCB5ED018D}"/>
              </a:ext>
            </a:extLst>
          </p:cNvPr>
          <p:cNvSpPr>
            <a:spLocks xmlns:a="http://schemas.openxmlformats.org/drawingml/2006/main" noGrp="1"/>
          </p:cNvSpPr>
          <p:nvPr/>
        </p:nvSpPr>
        <p:spPr>
          <a:xfrm xmlns:a="http://schemas.openxmlformats.org/drawingml/2006/main">
            <a:off x="8572500" y="1857375"/>
            <a:ext cx="2857500" cy="1047750"/>
          </a:xfrm>
          <a:prstGeom xmlns:a="http://schemas.openxmlformats.org/drawingml/2006/main" prst="rect">
            <a:avLst/>
          </a:prstGeom>
          <a:solidFill xmlns:a="http://schemas.openxmlformats.org/drawingml/2006/main">
            <a:srgbClr val="E8EFEA"/>
          </a:solidFill>
          <a:ln xmlns:a="http://schemas.openxmlformats.org/drawingml/2006/main" w="9525">
            <a:solidFill>
              <a:srgbClr val="183F36"/>
            </a:solidFill>
          </a:ln>
        </p:spPr>
      </p:sp>
      <p:sp>
        <p:nvSpPr>
          <p:cNvPr id="10" name="">
            <a:extLst xmlns:a="http://schemas.openxmlformats.org/drawingml/2006/main">
              <a:ext uri="{FF2B5EF4-FFF2-40B4-BE49-F238E27FC236}">
                <a16:creationId xmlns:a16="http://schemas.microsoft.com/office/drawing/2014/main" id="{056FD6DA-5850-4054-A4E7-3925C7A61698}"/>
              </a:ext>
            </a:extLst>
          </p:cNvPr>
          <p:cNvSpPr>
            <a:spLocks xmlns:a="http://schemas.openxmlformats.org/drawingml/2006/main" noGrp="1"/>
          </p:cNvSpPr>
          <p:nvPr/>
        </p:nvSpPr>
        <p:spPr>
          <a:xfrm xmlns:a="http://schemas.openxmlformats.org/drawingml/2006/main">
            <a:off x="8648700" y="1952625"/>
            <a:ext cx="2705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New request uses V2</a:t>
            </a:r>
          </a:p>
        </p:txBody>
      </p:sp>
      <p:sp>
        <p:nvSpPr>
          <p:cNvPr id="11" name="">
            <a:extLst xmlns:a="http://schemas.openxmlformats.org/drawingml/2006/main">
              <a:ext uri="{FF2B5EF4-FFF2-40B4-BE49-F238E27FC236}">
                <a16:creationId xmlns:a16="http://schemas.microsoft.com/office/drawing/2014/main" id="{2A2BD388-7444-44E2-A758-C28D2911D6A3}"/>
              </a:ext>
            </a:extLst>
          </p:cNvPr>
          <p:cNvSpPr>
            <a:spLocks xmlns:a="http://schemas.openxmlformats.org/drawingml/2006/main" noGrp="1"/>
          </p:cNvSpPr>
          <p:nvPr/>
        </p:nvSpPr>
        <p:spPr>
          <a:xfrm xmlns:a="http://schemas.openxmlformats.org/drawingml/2006/main">
            <a:off x="4476750" y="3857625"/>
            <a:ext cx="2857500" cy="1047750"/>
          </a:xfrm>
          <a:prstGeom xmlns:a="http://schemas.openxmlformats.org/drawingml/2006/main" prst="rect">
            <a:avLst/>
          </a:prstGeom>
          <a:solidFill xmlns:a="http://schemas.openxmlformats.org/drawingml/2006/main">
            <a:srgbClr val="E8EFEA"/>
          </a:solidFill>
          <a:ln xmlns:a="http://schemas.openxmlformats.org/drawingml/2006/main" w="9525">
            <a:solidFill>
              <a:srgbClr val="183F36"/>
            </a:solidFill>
          </a:ln>
        </p:spPr>
      </p:sp>
      <p:sp>
        <p:nvSpPr>
          <p:cNvPr id="12" name="">
            <a:extLst xmlns:a="http://schemas.openxmlformats.org/drawingml/2006/main">
              <a:ext uri="{FF2B5EF4-FFF2-40B4-BE49-F238E27FC236}">
                <a16:creationId xmlns:a16="http://schemas.microsoft.com/office/drawing/2014/main" id="{AA989A87-7FDA-473E-971A-0BA86AA2A5B7}"/>
              </a:ext>
            </a:extLst>
          </p:cNvPr>
          <p:cNvSpPr>
            <a:spLocks xmlns:a="http://schemas.openxmlformats.org/drawingml/2006/main" noGrp="1"/>
          </p:cNvSpPr>
          <p:nvPr/>
        </p:nvSpPr>
        <p:spPr>
          <a:xfrm xmlns:a="http://schemas.openxmlformats.org/drawingml/2006/main">
            <a:off x="4552950" y="3952875"/>
            <a:ext cx="2705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Existing draft stays V1</a:t>
            </a:r>
          </a:p>
        </p:txBody>
      </p:sp>
      <p:sp>
        <p:nvSpPr>
          <p:cNvPr id="13" name="">
            <a:extLst xmlns:a="http://schemas.openxmlformats.org/drawingml/2006/main">
              <a:ext uri="{FF2B5EF4-FFF2-40B4-BE49-F238E27FC236}">
                <a16:creationId xmlns:a16="http://schemas.microsoft.com/office/drawing/2014/main" id="{2E1C8D0C-EAEB-4836-BD89-8E8B39F77886}"/>
              </a:ext>
            </a:extLst>
          </p:cNvPr>
          <p:cNvSpPr>
            <a:spLocks xmlns:a="http://schemas.openxmlformats.org/drawingml/2006/main" noGrp="1"/>
          </p:cNvSpPr>
          <p:nvPr/>
        </p:nvSpPr>
        <p:spPr>
          <a:xfrm xmlns:a="http://schemas.openxmlformats.org/drawingml/2006/main">
            <a:off x="7667625" y="4095750"/>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233B36"/>
                </a:solidFill>
                <a:latin typeface="Helvetica Neue"/>
                <a:ea typeface="Helvetica Neue"/>
                <a:cs typeface="Helvetica Neue"/>
              </a:defRPr>
            </a:pPr>
            <a:r>
              <a:rPr sz="3000" b="0">
                <a:solidFill>
                  <a:srgbClr val="233B36"/>
                </a:solidFill>
                <a:latin typeface="Helvetica Neue"/>
                <a:ea typeface="Helvetica Neue"/>
                <a:cs typeface="Helvetica Neue"/>
              </a:rPr>
              <a:t>→</a:t>
            </a:r>
          </a:p>
        </p:txBody>
      </p:sp>
      <p:sp>
        <p:nvSpPr>
          <p:cNvPr id="14" name="">
            <a:extLst xmlns:a="http://schemas.openxmlformats.org/drawingml/2006/main">
              <a:ext uri="{FF2B5EF4-FFF2-40B4-BE49-F238E27FC236}">
                <a16:creationId xmlns:a16="http://schemas.microsoft.com/office/drawing/2014/main" id="{85713840-74EF-4F06-8B3C-58AF6B198380}"/>
              </a:ext>
            </a:extLst>
          </p:cNvPr>
          <p:cNvSpPr>
            <a:spLocks xmlns:a="http://schemas.openxmlformats.org/drawingml/2006/main" noGrp="1"/>
          </p:cNvSpPr>
          <p:nvPr/>
        </p:nvSpPr>
        <p:spPr>
          <a:xfrm xmlns:a="http://schemas.openxmlformats.org/drawingml/2006/main">
            <a:off x="8572500" y="3857625"/>
            <a:ext cx="2857500" cy="1190625"/>
          </a:xfrm>
          <a:prstGeom xmlns:a="http://schemas.openxmlformats.org/drawingml/2006/main" prst="rect">
            <a:avLst/>
          </a:prstGeom>
          <a:solidFill xmlns:a="http://schemas.openxmlformats.org/drawingml/2006/main">
            <a:srgbClr val="E8EFEA"/>
          </a:solidFill>
          <a:ln xmlns:a="http://schemas.openxmlformats.org/drawingml/2006/main" w="9525">
            <a:solidFill>
              <a:srgbClr val="183F36"/>
            </a:solidFill>
          </a:ln>
        </p:spPr>
      </p:sp>
      <p:sp>
        <p:nvSpPr>
          <p:cNvPr id="15" name="">
            <a:extLst xmlns:a="http://schemas.openxmlformats.org/drawingml/2006/main">
              <a:ext uri="{FF2B5EF4-FFF2-40B4-BE49-F238E27FC236}">
                <a16:creationId xmlns:a16="http://schemas.microsoft.com/office/drawing/2014/main" id="{58673058-44EE-4A80-A139-32E40D619758}"/>
              </a:ext>
            </a:extLst>
          </p:cNvPr>
          <p:cNvSpPr>
            <a:spLocks xmlns:a="http://schemas.openxmlformats.org/drawingml/2006/main" noGrp="1"/>
          </p:cNvSpPr>
          <p:nvPr/>
        </p:nvSpPr>
        <p:spPr>
          <a:xfrm xmlns:a="http://schemas.openxmlformats.org/drawingml/2006/main">
            <a:off x="8648700" y="3952875"/>
            <a:ext cx="27051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Preview · correct · confirm</a:t>
            </a:r>
          </a:p>
          <a:p xmlns:a="http://schemas.openxmlformats.org/drawingml/2006/main">
            <a:pPr>
              <a:defRPr sz="1800" b="1">
                <a:solidFill>
                  <a:srgbClr val="233B36"/>
                </a:solidFill>
                <a:latin typeface="Helvetica Neue"/>
                <a:ea typeface="Helvetica Neue"/>
                <a:cs typeface="Helvetica Neue"/>
              </a:defRPr>
            </a:pPr>
            <a:r>
              <a:rPr sz="1800" b="1">
                <a:solidFill>
                  <a:srgbClr val="233B36"/>
                </a:solidFill>
                <a:latin typeface="Helvetica Neue"/>
                <a:ea typeface="Helvetica Neue"/>
                <a:cs typeface="Helvetica Neue"/>
              </a:rPr>
              <a:t>Draft moves to V2</a:t>
            </a:r>
          </a:p>
        </p:txBody>
      </p:sp>
      <p:sp>
        <p:nvSpPr>
          <p:cNvPr id="16" name="">
            <a:extLst xmlns:a="http://schemas.openxmlformats.org/drawingml/2006/main">
              <a:ext uri="{FF2B5EF4-FFF2-40B4-BE49-F238E27FC236}">
                <a16:creationId xmlns:a16="http://schemas.microsoft.com/office/drawing/2014/main" id="{25F3D3AC-5FE8-45BA-842A-5B5382F0D4A1}"/>
              </a:ext>
            </a:extLst>
          </p:cNvPr>
          <p:cNvSpPr>
            <a:spLocks xmlns:a="http://schemas.openxmlformats.org/drawingml/2006/main" noGrp="1"/>
          </p:cNvSpPr>
          <p:nvPr/>
        </p:nvSpPr>
        <p:spPr>
          <a:xfrm xmlns:a="http://schemas.openxmlformats.org/drawingml/2006/main">
            <a:off x="685800" y="55721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3B36"/>
                </a:solidFill>
                <a:latin typeface="Helvetica Neue"/>
                <a:ea typeface="Helvetica Neue"/>
                <a:cs typeface="Helvetica Neue"/>
              </a:defRPr>
            </a:pPr>
            <a:r>
              <a:rPr sz="2175" b="1">
                <a:solidFill>
                  <a:srgbClr val="233B36"/>
                </a:solidFill>
                <a:latin typeface="Helvetica Neue"/>
                <a:ea typeface="Helvetica Neue"/>
                <a:cs typeface="Helvetica Neue"/>
              </a:rPr>
              <a:t>Historical requests retain their schema. Submitted requests do not migrate.</a:t>
            </a:r>
          </a:p>
        </p:txBody>
      </p:sp>
    </p:spTree>
    <p:extLst>
      <p:ext uri="{BB962C8B-B14F-4D97-AF65-F5344CB8AC3E}">
        <p14:creationId xmlns:p14="http://schemas.microsoft.com/office/powerpoint/2010/main" val="1455793767"/>
      </p:ext>
    </p:extLst>
  </p:cSld>
</p:sld>
</file>

<file path=ppt/slides/slide8.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9BFB4B4-B2C6-474F-BB11-1E1139AAABFB}"/>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33B36"/>
                </a:solidFill>
                <a:latin typeface="Helvetica Neue"/>
                <a:ea typeface="Helvetica Neue"/>
                <a:cs typeface="Helvetica Neue"/>
              </a:defRPr>
            </a:pPr>
            <a:r>
              <a:rPr sz="1350" b="0">
                <a:solidFill>
                  <a:srgbClr val="233B36"/>
                </a:solidFill>
                <a:latin typeface="Helvetica Neue"/>
                <a:ea typeface="Helvetica Neue"/>
                <a:cs typeface="Helvetica Neue"/>
              </a:rPr>
              <a:t>08 / 15</a:t>
            </a:r>
          </a:p>
        </p:txBody>
      </p:sp>
      <p:sp>
        <p:nvSpPr>
          <p:cNvPr id="2" name="">
            <a:extLst xmlns:a="http://schemas.openxmlformats.org/drawingml/2006/main">
              <a:ext uri="{FF2B5EF4-FFF2-40B4-BE49-F238E27FC236}">
                <a16:creationId xmlns:a16="http://schemas.microsoft.com/office/drawing/2014/main" id="{39892163-5619-4F6D-8CFD-8673681D07B5}"/>
              </a:ext>
            </a:extLst>
          </p:cNvPr>
          <p:cNvSpPr>
            <a:spLocks xmlns:a="http://schemas.openxmlformats.org/drawingml/2006/main" noGrp="1"/>
          </p:cNvSpPr>
          <p:nvPr/>
        </p:nvSpPr>
        <p:spPr>
          <a:xfrm xmlns:a="http://schemas.openxmlformats.org/drawingml/2006/main">
            <a:off x="685800" y="495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33B36"/>
                </a:solidFill>
                <a:latin typeface="Helvetica Neue"/>
                <a:ea typeface="Helvetica Neue"/>
                <a:cs typeface="Helvetica Neue"/>
              </a:defRPr>
            </a:pPr>
            <a:r>
              <a:rPr sz="3450" b="1">
                <a:solidFill>
                  <a:srgbClr val="233B36"/>
                </a:solidFill>
                <a:latin typeface="Helvetica Neue"/>
                <a:ea typeface="Helvetica Neue"/>
                <a:cs typeface="Helvetica Neue"/>
              </a:rPr>
              <a:t>Security and validation</a:t>
            </a:r>
          </a:p>
        </p:txBody>
      </p:sp>
      <p:sp>
        <p:nvSpPr>
          <p:cNvPr id="3" name="">
            <a:extLst xmlns:a="http://schemas.openxmlformats.org/drawingml/2006/main">
              <a:ext uri="{FF2B5EF4-FFF2-40B4-BE49-F238E27FC236}">
                <a16:creationId xmlns:a16="http://schemas.microsoft.com/office/drawing/2014/main" id="{51672077-27D3-4A62-A86A-7929BCB745CD}"/>
              </a:ext>
            </a:extLst>
          </p:cNvPr>
          <p:cNvSpPr>
            <a:spLocks xmlns:a="http://schemas.openxmlformats.org/drawingml/2006/main" noGrp="1"/>
          </p:cNvSpPr>
          <p:nvPr/>
        </p:nvSpPr>
        <p:spPr>
          <a:xfrm xmlns:a="http://schemas.openxmlformats.org/drawingml/2006/main">
            <a:off x="685800" y="16668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The server derives identity from the session and checks scoped grants.</a:t>
            </a:r>
          </a:p>
        </p:txBody>
      </p:sp>
      <p:sp>
        <p:nvSpPr>
          <p:cNvPr id="4" name="">
            <a:extLst xmlns:a="http://schemas.openxmlformats.org/drawingml/2006/main">
              <a:ext uri="{FF2B5EF4-FFF2-40B4-BE49-F238E27FC236}">
                <a16:creationId xmlns:a16="http://schemas.microsoft.com/office/drawing/2014/main" id="{0903B3FA-F356-4CCF-BC7A-349BD007344A}"/>
              </a:ext>
            </a:extLst>
          </p:cNvPr>
          <p:cNvSpPr>
            <a:spLocks xmlns:a="http://schemas.openxmlformats.org/drawingml/2006/main" noGrp="1"/>
          </p:cNvSpPr>
          <p:nvPr/>
        </p:nvSpPr>
        <p:spPr>
          <a:xfrm xmlns:a="http://schemas.openxmlformats.org/drawingml/2006/main">
            <a:off x="685800" y="240982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CSRF, ownership, revision and status checks protect writes.</a:t>
            </a:r>
          </a:p>
        </p:txBody>
      </p:sp>
      <p:sp>
        <p:nvSpPr>
          <p:cNvPr id="5" name="">
            <a:extLst xmlns:a="http://schemas.openxmlformats.org/drawingml/2006/main">
              <a:ext uri="{FF2B5EF4-FFF2-40B4-BE49-F238E27FC236}">
                <a16:creationId xmlns:a16="http://schemas.microsoft.com/office/drawing/2014/main" id="{E03A3824-E8B2-4415-AC98-C8D6AA320AEA}"/>
              </a:ext>
            </a:extLst>
          </p:cNvPr>
          <p:cNvSpPr>
            <a:spLocks xmlns:a="http://schemas.openxmlformats.org/drawingml/2006/main" noGrp="1"/>
          </p:cNvSpPr>
          <p:nvPr/>
        </p:nvSpPr>
        <p:spPr>
          <a:xfrm xmlns:a="http://schemas.openxmlformats.org/drawingml/2006/main">
            <a:off x="685800" y="31527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Shared custom rules align frontend and API errors.</a:t>
            </a:r>
          </a:p>
        </p:txBody>
      </p:sp>
      <p:sp>
        <p:nvSpPr>
          <p:cNvPr id="6" name="">
            <a:extLst xmlns:a="http://schemas.openxmlformats.org/drawingml/2006/main">
              <a:ext uri="{FF2B5EF4-FFF2-40B4-BE49-F238E27FC236}">
                <a16:creationId xmlns:a16="http://schemas.microsoft.com/office/drawing/2014/main" id="{388C6C32-87DA-4021-BCB4-C56F8A263C3B}"/>
              </a:ext>
            </a:extLst>
          </p:cNvPr>
          <p:cNvSpPr>
            <a:spLocks xmlns:a="http://schemas.openxmlformats.org/drawingml/2006/main" noGrp="1"/>
          </p:cNvSpPr>
          <p:nvPr/>
        </p:nvSpPr>
        <p:spPr>
          <a:xfrm xmlns:a="http://schemas.openxmlformats.org/drawingml/2006/main">
            <a:off x="685800" y="389572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Hidden fields cannot bypass server validation or authorization.</a:t>
            </a:r>
          </a:p>
        </p:txBody>
      </p:sp>
      <p:sp>
        <p:nvSpPr>
          <p:cNvPr id="7" name="">
            <a:extLst xmlns:a="http://schemas.openxmlformats.org/drawingml/2006/main">
              <a:ext uri="{FF2B5EF4-FFF2-40B4-BE49-F238E27FC236}">
                <a16:creationId xmlns:a16="http://schemas.microsoft.com/office/drawing/2014/main" id="{26E236E2-83E5-48FB-AAA7-573B624391FA}"/>
              </a:ext>
            </a:extLst>
          </p:cNvPr>
          <p:cNvSpPr>
            <a:spLocks xmlns:a="http://schemas.openxmlformats.org/drawingml/2006/main" noGrp="1"/>
          </p:cNvSpPr>
          <p:nvPr/>
        </p:nvSpPr>
        <p:spPr>
          <a:xfrm xmlns:a="http://schemas.openxmlformats.org/drawingml/2006/main">
            <a:off x="685800" y="46386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Production files need scanning, quarantine and retention ownership.</a:t>
            </a:r>
          </a:p>
        </p:txBody>
      </p:sp>
    </p:spTree>
    <p:extLst>
      <p:ext uri="{BB962C8B-B14F-4D97-AF65-F5344CB8AC3E}">
        <p14:creationId xmlns:p14="http://schemas.microsoft.com/office/powerpoint/2010/main" val="2021829925"/>
      </p:ext>
    </p:extLst>
  </p:cSld>
</p:sld>
</file>

<file path=ppt/slides/slide9.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05A1E5B-CECA-4AA2-8CDE-D4F44F10912F}"/>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33B36"/>
                </a:solidFill>
                <a:latin typeface="Helvetica Neue"/>
                <a:ea typeface="Helvetica Neue"/>
                <a:cs typeface="Helvetica Neue"/>
              </a:defRPr>
            </a:pPr>
            <a:r>
              <a:rPr sz="1350" b="0">
                <a:solidFill>
                  <a:srgbClr val="233B36"/>
                </a:solidFill>
                <a:latin typeface="Helvetica Neue"/>
                <a:ea typeface="Helvetica Neue"/>
                <a:cs typeface="Helvetica Neue"/>
              </a:rPr>
              <a:t>09 / 15</a:t>
            </a:r>
          </a:p>
        </p:txBody>
      </p:sp>
      <p:sp>
        <p:nvSpPr>
          <p:cNvPr id="2" name="">
            <a:extLst xmlns:a="http://schemas.openxmlformats.org/drawingml/2006/main">
              <a:ext uri="{FF2B5EF4-FFF2-40B4-BE49-F238E27FC236}">
                <a16:creationId xmlns:a16="http://schemas.microsoft.com/office/drawing/2014/main" id="{477B6EC1-CF7F-48AE-8DAC-4DCE63FB49E7}"/>
              </a:ext>
            </a:extLst>
          </p:cNvPr>
          <p:cNvSpPr>
            <a:spLocks xmlns:a="http://schemas.openxmlformats.org/drawingml/2006/main" noGrp="1"/>
          </p:cNvSpPr>
          <p:nvPr/>
        </p:nvSpPr>
        <p:spPr>
          <a:xfrm xmlns:a="http://schemas.openxmlformats.org/drawingml/2006/main">
            <a:off x="685800" y="495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33B36"/>
                </a:solidFill>
                <a:latin typeface="Helvetica Neue"/>
                <a:ea typeface="Helvetica Neue"/>
                <a:cs typeface="Helvetica Neue"/>
              </a:defRPr>
            </a:pPr>
            <a:r>
              <a:rPr sz="3450" b="1">
                <a:solidFill>
                  <a:srgbClr val="233B36"/>
                </a:solidFill>
                <a:latin typeface="Helvetica Neue"/>
                <a:ea typeface="Helvetica Neue"/>
                <a:cs typeface="Helvetica Neue"/>
              </a:rPr>
              <a:t>Frontend boundaries and usability</a:t>
            </a:r>
          </a:p>
        </p:txBody>
      </p:sp>
      <p:sp>
        <p:nvSpPr>
          <p:cNvPr id="3" name="">
            <a:extLst xmlns:a="http://schemas.openxmlformats.org/drawingml/2006/main">
              <a:ext uri="{FF2B5EF4-FFF2-40B4-BE49-F238E27FC236}">
                <a16:creationId xmlns:a16="http://schemas.microsoft.com/office/drawing/2014/main" id="{A0465DAA-4B93-496E-81CC-977FAB930F4C}"/>
              </a:ext>
            </a:extLst>
          </p:cNvPr>
          <p:cNvSpPr>
            <a:spLocks xmlns:a="http://schemas.openxmlformats.org/drawingml/2006/main" noGrp="1"/>
          </p:cNvSpPr>
          <p:nvPr/>
        </p:nvSpPr>
        <p:spPr>
          <a:xfrm xmlns:a="http://schemas.openxmlformats.org/drawingml/2006/main">
            <a:off x="685800" y="1714500"/>
            <a:ext cx="4143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B36"/>
                </a:solidFill>
                <a:latin typeface="Helvetica Neue"/>
                <a:ea typeface="Helvetica Neue"/>
                <a:cs typeface="Helvetica Neue"/>
              </a:defRPr>
            </a:pPr>
            <a:r>
              <a:rPr sz="2025" b="0">
                <a:solidFill>
                  <a:srgbClr val="233B36"/>
                </a:solidFill>
                <a:latin typeface="Helvetica Neue"/>
                <a:ea typeface="Helvetica Neue"/>
                <a:cs typeface="Helvetica Neue"/>
              </a:rPr>
              <a:t>Account actions open in accessible dialogs.</a:t>
            </a:r>
          </a:p>
        </p:txBody>
      </p:sp>
      <p:sp>
        <p:nvSpPr>
          <p:cNvPr id="4" name="">
            <a:extLst xmlns:a="http://schemas.openxmlformats.org/drawingml/2006/main">
              <a:ext uri="{FF2B5EF4-FFF2-40B4-BE49-F238E27FC236}">
                <a16:creationId xmlns:a16="http://schemas.microsoft.com/office/drawing/2014/main" id="{8926978B-3E90-42AE-AD9E-14FEBA2B5327}"/>
              </a:ext>
            </a:extLst>
          </p:cNvPr>
          <p:cNvSpPr>
            <a:spLocks xmlns:a="http://schemas.openxmlformats.org/drawingml/2006/main" noGrp="1"/>
          </p:cNvSpPr>
          <p:nvPr/>
        </p:nvSpPr>
        <p:spPr>
          <a:xfrm xmlns:a="http://schemas.openxmlformats.org/drawingml/2006/main">
            <a:off x="685800" y="2743200"/>
            <a:ext cx="4143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B36"/>
                </a:solidFill>
                <a:latin typeface="Helvetica Neue"/>
                <a:ea typeface="Helvetica Neue"/>
                <a:cs typeface="Helvetica Neue"/>
              </a:defRPr>
            </a:pPr>
            <a:r>
              <a:rPr sz="2025" b="0">
                <a:solidFill>
                  <a:srgbClr val="233B36"/>
                </a:solidFill>
                <a:latin typeface="Helvetica Neue"/>
                <a:ea typeface="Helvetica Neue"/>
                <a:cs typeface="Helvetica Neue"/>
              </a:rPr>
              <a:t>The user menu includes language and password actions.</a:t>
            </a:r>
          </a:p>
        </p:txBody>
      </p:sp>
      <p:sp>
        <p:nvSpPr>
          <p:cNvPr id="5" name="">
            <a:extLst xmlns:a="http://schemas.openxmlformats.org/drawingml/2006/main">
              <a:ext uri="{FF2B5EF4-FFF2-40B4-BE49-F238E27FC236}">
                <a16:creationId xmlns:a16="http://schemas.microsoft.com/office/drawing/2014/main" id="{A9B5B035-A067-431B-A0B5-5ACF7A5AC810}"/>
              </a:ext>
            </a:extLst>
          </p:cNvPr>
          <p:cNvSpPr>
            <a:spLocks xmlns:a="http://schemas.openxmlformats.org/drawingml/2006/main" noGrp="1"/>
          </p:cNvSpPr>
          <p:nvPr/>
        </p:nvSpPr>
        <p:spPr>
          <a:xfrm xmlns:a="http://schemas.openxmlformats.org/drawingml/2006/main">
            <a:off x="685800" y="3771900"/>
            <a:ext cx="4143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B36"/>
                </a:solidFill>
                <a:latin typeface="Helvetica Neue"/>
                <a:ea typeface="Helvetica Neue"/>
                <a:cs typeface="Helvetica Neue"/>
              </a:defRPr>
            </a:pPr>
            <a:r>
              <a:rPr sz="2025" b="0">
                <a:solidFill>
                  <a:srgbClr val="233B36"/>
                </a:solidFill>
                <a:latin typeface="Helvetica Neue"/>
                <a:ea typeface="Helvetica Neue"/>
                <a:cs typeface="Helvetica Neue"/>
              </a:rPr>
              <a:t>Shared form spacing supports desktop and mobile.</a:t>
            </a:r>
          </a:p>
        </p:txBody>
      </p:sp>
      <p:sp>
        <p:nvSpPr>
          <p:cNvPr id="6" name="">
            <a:extLst xmlns:a="http://schemas.openxmlformats.org/drawingml/2006/main">
              <a:ext uri="{FF2B5EF4-FFF2-40B4-BE49-F238E27FC236}">
                <a16:creationId xmlns:a16="http://schemas.microsoft.com/office/drawing/2014/main" id="{01F932BF-6EC6-48CE-889D-51F6C99A51F9}"/>
              </a:ext>
            </a:extLst>
          </p:cNvPr>
          <p:cNvSpPr>
            <a:spLocks xmlns:a="http://schemas.openxmlformats.org/drawingml/2006/main" noGrp="1"/>
          </p:cNvSpPr>
          <p:nvPr/>
        </p:nvSpPr>
        <p:spPr>
          <a:xfrm xmlns:a="http://schemas.openxmlformats.org/drawingml/2006/main">
            <a:off x="685800" y="4800600"/>
            <a:ext cx="4143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B36"/>
                </a:solidFill>
                <a:latin typeface="Helvetica Neue"/>
                <a:ea typeface="Helvetica Neue"/>
                <a:cs typeface="Helvetica Neue"/>
              </a:defRPr>
            </a:pPr>
            <a:r>
              <a:rPr sz="2025" b="0">
                <a:solidFill>
                  <a:srgbClr val="233B36"/>
                </a:solidFill>
                <a:latin typeface="Helvetica Neue"/>
                <a:ea typeface="Helvetica Neue"/>
                <a:cs typeface="Helvetica Neue"/>
              </a:rPr>
              <a:t>Tailwind styles the shell. Scoped Bootstrap supports Form.io.</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9e74bbc09d04bfc"/>
          <a:stretch xmlns:a="http://schemas.openxmlformats.org/drawingml/2006/main"/>
        </p:blipFill>
        <p:spPr>
          <a:xfrm xmlns:a="http://schemas.openxmlformats.org/drawingml/2006/main">
            <a:off x="6410750" y="1619250"/>
            <a:ext cx="4018701" cy="4381500"/>
          </a:xfrm>
          <a:prstGeom xmlns:a="http://schemas.openxmlformats.org/drawingml/2006/main" prst="rect">
            <a:avLst/>
          </a:prstGeom>
        </p:spPr>
      </p:pic>
    </p:spTree>
    <p:extLst>
      <p:ext uri="{BB962C8B-B14F-4D97-AF65-F5344CB8AC3E}">
        <p14:creationId xmlns:p14="http://schemas.microsoft.com/office/powerpoint/2010/main" val="1352806397"/>
      </p:ext>
    </p:extLst>
  </p:cSld>
</p:sld>
</file>

<file path=ppt/slides/slide10.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57F9ABD-E4CC-4E3D-9EE5-5F166616AEE6}"/>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33B36"/>
                </a:solidFill>
                <a:latin typeface="Helvetica Neue"/>
                <a:ea typeface="Helvetica Neue"/>
                <a:cs typeface="Helvetica Neue"/>
              </a:defRPr>
            </a:pPr>
            <a:r>
              <a:rPr sz="1350" b="0">
                <a:solidFill>
                  <a:srgbClr val="233B36"/>
                </a:solidFill>
                <a:latin typeface="Helvetica Neue"/>
                <a:ea typeface="Helvetica Neue"/>
                <a:cs typeface="Helvetica Neue"/>
              </a:rPr>
              <a:t>10 / 15</a:t>
            </a:r>
          </a:p>
        </p:txBody>
      </p:sp>
      <p:sp>
        <p:nvSpPr>
          <p:cNvPr id="2" name="">
            <a:extLst xmlns:a="http://schemas.openxmlformats.org/drawingml/2006/main">
              <a:ext uri="{FF2B5EF4-FFF2-40B4-BE49-F238E27FC236}">
                <a16:creationId xmlns:a16="http://schemas.microsoft.com/office/drawing/2014/main" id="{FCF9F1FB-6D1A-4B00-8FEE-E7B12E00657E}"/>
              </a:ext>
            </a:extLst>
          </p:cNvPr>
          <p:cNvSpPr>
            <a:spLocks xmlns:a="http://schemas.openxmlformats.org/drawingml/2006/main" noGrp="1"/>
          </p:cNvSpPr>
          <p:nvPr/>
        </p:nvSpPr>
        <p:spPr>
          <a:xfrm xmlns:a="http://schemas.openxmlformats.org/drawingml/2006/main">
            <a:off x="685800" y="495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33B36"/>
                </a:solidFill>
                <a:latin typeface="Helvetica Neue"/>
                <a:ea typeface="Helvetica Neue"/>
                <a:cs typeface="Helvetica Neue"/>
              </a:defRPr>
            </a:pPr>
            <a:r>
              <a:rPr sz="3450" b="1">
                <a:solidFill>
                  <a:srgbClr val="233B36"/>
                </a:solidFill>
                <a:latin typeface="Helvetica Neue"/>
                <a:ea typeface="Helvetica Neue"/>
                <a:cs typeface="Helvetica Neue"/>
              </a:rPr>
              <a:t>Local evidence and limits</a:t>
            </a:r>
          </a:p>
        </p:txBody>
      </p:sp>
      <p:sp>
        <p:nvSpPr>
          <p:cNvPr id="3" name="">
            <a:extLst xmlns:a="http://schemas.openxmlformats.org/drawingml/2006/main">
              <a:ext uri="{FF2B5EF4-FFF2-40B4-BE49-F238E27FC236}">
                <a16:creationId xmlns:a16="http://schemas.microsoft.com/office/drawing/2014/main" id="{E7C162F4-A40A-4EE2-B7C1-A1883E6631B5}"/>
              </a:ext>
            </a:extLst>
          </p:cNvPr>
          <p:cNvSpPr>
            <a:spLocks xmlns:a="http://schemas.openxmlformats.org/drawingml/2006/main" noGrp="1"/>
          </p:cNvSpPr>
          <p:nvPr/>
        </p:nvSpPr>
        <p:spPr>
          <a:xfrm xmlns:a="http://schemas.openxmlformats.org/drawingml/2006/main">
            <a:off x="685800" y="16668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80 unit/API tests pass with lint, formatting and production build.</a:t>
            </a:r>
          </a:p>
        </p:txBody>
      </p:sp>
      <p:sp>
        <p:nvSpPr>
          <p:cNvPr id="4" name="">
            <a:extLst xmlns:a="http://schemas.openxmlformats.org/drawingml/2006/main">
              <a:ext uri="{FF2B5EF4-FFF2-40B4-BE49-F238E27FC236}">
                <a16:creationId xmlns:a16="http://schemas.microsoft.com/office/drawing/2014/main" id="{9503CF23-DC5A-496F-B55D-681B8F69F263}"/>
              </a:ext>
            </a:extLst>
          </p:cNvPr>
          <p:cNvSpPr>
            <a:spLocks xmlns:a="http://schemas.openxmlformats.org/drawingml/2006/main" noGrp="1"/>
          </p:cNvSpPr>
          <p:nvPr/>
        </p:nvSpPr>
        <p:spPr>
          <a:xfrm xmlns:a="http://schemas.openxmlformats.org/drawingml/2006/main">
            <a:off x="685800" y="2667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15 Chromium scenarios pass, including a slow UI walkthrough.</a:t>
            </a:r>
          </a:p>
        </p:txBody>
      </p:sp>
      <p:sp>
        <p:nvSpPr>
          <p:cNvPr id="5" name="">
            <a:extLst xmlns:a="http://schemas.openxmlformats.org/drawingml/2006/main">
              <a:ext uri="{FF2B5EF4-FFF2-40B4-BE49-F238E27FC236}">
                <a16:creationId xmlns:a16="http://schemas.microsoft.com/office/drawing/2014/main" id="{B4F3FBBB-A49B-4B60-A7B4-5D369CF03072}"/>
              </a:ext>
            </a:extLst>
          </p:cNvPr>
          <p:cNvSpPr>
            <a:spLocks xmlns:a="http://schemas.openxmlformats.org/drawingml/2006/main" noGrp="1"/>
          </p:cNvSpPr>
          <p:nvPr/>
        </p:nvSpPr>
        <p:spPr>
          <a:xfrm xmlns:a="http://schemas.openxmlformats.org/drawingml/2006/main">
            <a:off x="685800" y="36671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The schema-change test compares frontend hashes and document identity.</a:t>
            </a:r>
          </a:p>
        </p:txBody>
      </p:sp>
      <p:sp>
        <p:nvSpPr>
          <p:cNvPr id="6" name="">
            <a:extLst xmlns:a="http://schemas.openxmlformats.org/drawingml/2006/main">
              <a:ext uri="{FF2B5EF4-FFF2-40B4-BE49-F238E27FC236}">
                <a16:creationId xmlns:a16="http://schemas.microsoft.com/office/drawing/2014/main" id="{0EC22F9B-CC48-4811-800F-FEA9928988FF}"/>
              </a:ext>
            </a:extLst>
          </p:cNvPr>
          <p:cNvSpPr>
            <a:spLocks xmlns:a="http://schemas.openxmlformats.org/drawingml/2006/main" noGrp="1"/>
          </p:cNvSpPr>
          <p:nvPr/>
        </p:nvSpPr>
        <p:spPr>
          <a:xfrm xmlns:a="http://schemas.openxmlformats.org/drawingml/2006/main">
            <a:off x="685800" y="46672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Customer SSO, database, workflow, load testing and UAT remain pending.</a:t>
            </a:r>
          </a:p>
        </p:txBody>
      </p:sp>
      <p:sp>
        <p:nvSpPr>
          <p:cNvPr id="7" name="">
            <a:extLst xmlns:a="http://schemas.openxmlformats.org/drawingml/2006/main">
              <a:ext uri="{FF2B5EF4-FFF2-40B4-BE49-F238E27FC236}">
                <a16:creationId xmlns:a16="http://schemas.microsoft.com/office/drawing/2014/main" id="{07316EEA-7A81-4439-A2B8-36B37DE85CCF}"/>
              </a:ext>
            </a:extLst>
          </p:cNvPr>
          <p:cNvSpPr>
            <a:spLocks xmlns:a="http://schemas.openxmlformats.org/drawingml/2006/main" noGrp="1"/>
          </p:cNvSpPr>
          <p:nvPr/>
        </p:nvSpPr>
        <p:spPr>
          <a:xfrm xmlns:a="http://schemas.openxmlformats.org/drawingml/2006/main">
            <a:off x="685800" y="56197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F36"/>
                </a:solidFill>
                <a:latin typeface="Helvetica Neue"/>
                <a:ea typeface="Helvetica Neue"/>
                <a:cs typeface="Helvetica Neue"/>
              </a:defRPr>
            </a:pPr>
            <a:r>
              <a:rPr sz="1800" b="1">
                <a:solidFill>
                  <a:srgbClr val="183F36"/>
                </a:solidFill>
                <a:latin typeface="Helvetica Neue"/>
                <a:ea typeface="Helvetica Neue"/>
                <a:cs typeface="Helvetica Neue"/>
              </a:rPr>
              <a:t>AI disclosure: Codex drafted code, tests and documents. Independent candidate review remains pending.</a:t>
            </a:r>
          </a:p>
        </p:txBody>
      </p:sp>
    </p:spTree>
    <p:extLst>
      <p:ext uri="{BB962C8B-B14F-4D97-AF65-F5344CB8AC3E}">
        <p14:creationId xmlns:p14="http://schemas.microsoft.com/office/powerpoint/2010/main" val="1395575797"/>
      </p:ext>
    </p:extLst>
  </p:cSld>
</p:sld>
</file>

<file path=ppt/slides/slide11.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8C96254-E93F-473E-AE1C-45986158E798}"/>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33B36"/>
                </a:solidFill>
                <a:latin typeface="Helvetica Neue"/>
                <a:ea typeface="Helvetica Neue"/>
                <a:cs typeface="Helvetica Neue"/>
              </a:defRPr>
            </a:pPr>
            <a:r>
              <a:rPr sz="1350" b="0">
                <a:solidFill>
                  <a:srgbClr val="233B36"/>
                </a:solidFill>
                <a:latin typeface="Helvetica Neue"/>
                <a:ea typeface="Helvetica Neue"/>
                <a:cs typeface="Helvetica Neue"/>
              </a:rPr>
              <a:t>11 / 15</a:t>
            </a:r>
          </a:p>
        </p:txBody>
      </p:sp>
      <p:sp>
        <p:nvSpPr>
          <p:cNvPr id="2" name="">
            <a:extLst xmlns:a="http://schemas.openxmlformats.org/drawingml/2006/main">
              <a:ext uri="{FF2B5EF4-FFF2-40B4-BE49-F238E27FC236}">
                <a16:creationId xmlns:a16="http://schemas.microsoft.com/office/drawing/2014/main" id="{2A0DAFD6-EE43-40F4-9DA9-B8382639452D}"/>
              </a:ext>
            </a:extLst>
          </p:cNvPr>
          <p:cNvSpPr>
            <a:spLocks xmlns:a="http://schemas.openxmlformats.org/drawingml/2006/main" noGrp="1"/>
          </p:cNvSpPr>
          <p:nvPr/>
        </p:nvSpPr>
        <p:spPr>
          <a:xfrm xmlns:a="http://schemas.openxmlformats.org/drawingml/2006/main">
            <a:off x="685800" y="495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33B36"/>
                </a:solidFill>
                <a:latin typeface="Helvetica Neue"/>
                <a:ea typeface="Helvetica Neue"/>
                <a:cs typeface="Helvetica Neue"/>
              </a:defRPr>
            </a:pPr>
            <a:r>
              <a:rPr sz="3450" b="1">
                <a:solidFill>
                  <a:srgbClr val="233B36"/>
                </a:solidFill>
                <a:latin typeface="Helvetica Neue"/>
                <a:ea typeface="Helvetica Neue"/>
                <a:cs typeface="Helvetica Neue"/>
              </a:rPr>
              <a:t>Customer pilot estimate</a:t>
            </a:r>
          </a:p>
        </p:txBody>
      </p:sp>
      <p:graphicFrame>
        <p:nvGraphicFramePr>
          <p:cNvPr id="11" name=""/>
          <p:cNvGraphicFramePr/>
          <p:nvPr/>
        </p:nvGraphicFramePr>
        <p:xfrm>
          <a:off xmlns:a="http://schemas.openxmlformats.org/drawingml/2006/main" x="685800" y="1619250"/>
          <a:ext xmlns:a="http://schemas.openxmlformats.org/drawingml/2006/main" cx="7715250" cy="4191000"/>
        </p:xfrm>
        <a:graphic xmlns:a="http://schemas.openxmlformats.org/drawingml/2006/main">
          <a:graphicData uri="http://schemas.openxmlformats.org/drawingml/2006/table">
            <a:tbl>
              <a:tblPr/>
              <a:tblGrid>
                <a:gridCol w="6096000"/>
                <a:gridCol w="1619250"/>
              </a:tblGrid>
              <a:tr h="465667">
                <a:tc>
                  <a:txBody>
                    <a:bodyPr/>
                    <a:lstStyle/>
                    <a:p>
                      <a:r>
                        <a:rPr sz="1800" b="1">
                          <a:solidFill>
                            <a:srgbClr val="FFFFFF"/>
                          </a:solidFill>
                          <a:latin typeface="Helvetica Neue"/>
                          <a:ea typeface="Helvetica Neue"/>
                          <a:cs typeface="Helvetica Neue"/>
                        </a:rPr>
                        <a:t>Work package</a:t>
                      </a:r>
                    </a:p>
                  </a:txBody>
                  <a:tcPr marL="91440" marR="91440" marT="45720" marB="45720">
                    <a:solidFill>
                      <a:srgbClr val="183F36"/>
                    </a:solidFill>
                  </a:tcPr>
                </a:tc>
                <a:tc>
                  <a:txBody>
                    <a:bodyPr/>
                    <a:lstStyle/>
                    <a:p>
                      <a:r>
                        <a:rPr sz="1800" b="1">
                          <a:solidFill>
                            <a:srgbClr val="FFFFFF"/>
                          </a:solidFill>
                          <a:latin typeface="Helvetica Neue"/>
                          <a:ea typeface="Helvetica Neue"/>
                          <a:cs typeface="Helvetica Neue"/>
                        </a:rPr>
                        <a:t>Person-days</a:t>
                      </a:r>
                    </a:p>
                  </a:txBody>
                  <a:tcPr marL="91440" marR="91440" marT="45720" marB="45720">
                    <a:solidFill>
                      <a:srgbClr val="183F36"/>
                    </a:solidFill>
                  </a:tcPr>
                </a:tc>
              </a:tr>
              <a:tr h="465667">
                <a:tc>
                  <a:txBody>
                    <a:bodyPr/>
                    <a:lstStyle/>
                    <a:p>
                      <a:r>
                        <a:rPr sz="1800" b="0">
                          <a:solidFill>
                            <a:srgbClr val="233B36"/>
                          </a:solidFill>
                          <a:latin typeface="Helvetica Neue"/>
                          <a:ea typeface="Helvetica Neue"/>
                          <a:cs typeface="Helvetica Neue"/>
                        </a:rPr>
                        <a:t>Discovery and contracts</a:t>
                      </a:r>
                    </a:p>
                  </a:txBody>
                  <a:tcPr marL="91440" marR="91440" marT="45720" marB="45720">
                    <a:solidFill>
                      <a:srgbClr val="F0F4EF"/>
                    </a:solidFill>
                  </a:tcPr>
                </a:tc>
                <a:tc>
                  <a:txBody>
                    <a:bodyPr/>
                    <a:lstStyle/>
                    <a:p>
                      <a:r>
                        <a:rPr sz="1800" b="0">
                          <a:solidFill>
                            <a:srgbClr val="233B36"/>
                          </a:solidFill>
                          <a:latin typeface="Helvetica Neue"/>
                          <a:ea typeface="Helvetica Neue"/>
                          <a:cs typeface="Helvetica Neue"/>
                        </a:rPr>
                        <a:t>5</a:t>
                      </a:r>
                    </a:p>
                  </a:txBody>
                  <a:tcPr marL="91440" marR="91440" marT="45720" marB="45720">
                    <a:solidFill>
                      <a:srgbClr val="F0F4EF"/>
                    </a:solidFill>
                  </a:tcPr>
                </a:tc>
              </a:tr>
              <a:tr h="465667">
                <a:tc>
                  <a:txBody>
                    <a:bodyPr/>
                    <a:lstStyle/>
                    <a:p>
                      <a:r>
                        <a:rPr sz="1800" b="0">
                          <a:solidFill>
                            <a:srgbClr val="233B36"/>
                          </a:solidFill>
                          <a:latin typeface="Helvetica Neue"/>
                          <a:ea typeface="Helvetica Neue"/>
                          <a:cs typeface="Helvetica Neue"/>
                        </a:rPr>
                        <a:t>React journey and authoring</a:t>
                      </a:r>
                    </a:p>
                  </a:txBody>
                  <a:tcPr marL="91440" marR="91440" marT="45720" marB="45720">
                    <a:solidFill>
                      <a:srgbClr val="FFFFFF"/>
                    </a:solidFill>
                  </a:tcPr>
                </a:tc>
                <a:tc>
                  <a:txBody>
                    <a:bodyPr/>
                    <a:lstStyle/>
                    <a:p>
                      <a:r>
                        <a:rPr sz="1800" b="0">
                          <a:solidFill>
                            <a:srgbClr val="233B36"/>
                          </a:solidFill>
                          <a:latin typeface="Helvetica Neue"/>
                          <a:ea typeface="Helvetica Neue"/>
                          <a:cs typeface="Helvetica Neue"/>
                        </a:rPr>
                        <a:t>10</a:t>
                      </a:r>
                    </a:p>
                  </a:txBody>
                  <a:tcPr marL="91440" marR="91440" marT="45720" marB="45720">
                    <a:solidFill>
                      <a:srgbClr val="FFFFFF"/>
                    </a:solidFill>
                  </a:tcPr>
                </a:tc>
              </a:tr>
              <a:tr h="465667">
                <a:tc>
                  <a:txBody>
                    <a:bodyPr/>
                    <a:lstStyle/>
                    <a:p>
                      <a:r>
                        <a:rPr sz="1800" b="0">
                          <a:solidFill>
                            <a:srgbClr val="233B36"/>
                          </a:solidFill>
                          <a:latin typeface="Helvetica Neue"/>
                          <a:ea typeface="Helvetica Neue"/>
                          <a:cs typeface="Helvetica Neue"/>
                        </a:rPr>
                        <a:t>Identity, storage, files, workflow</a:t>
                      </a:r>
                    </a:p>
                  </a:txBody>
                  <a:tcPr marL="91440" marR="91440" marT="45720" marB="45720">
                    <a:solidFill>
                      <a:srgbClr val="F0F4EF"/>
                    </a:solidFill>
                  </a:tcPr>
                </a:tc>
                <a:tc>
                  <a:txBody>
                    <a:bodyPr/>
                    <a:lstStyle/>
                    <a:p>
                      <a:r>
                        <a:rPr sz="1800" b="0">
                          <a:solidFill>
                            <a:srgbClr val="233B36"/>
                          </a:solidFill>
                          <a:latin typeface="Helvetica Neue"/>
                          <a:ea typeface="Helvetica Neue"/>
                          <a:cs typeface="Helvetica Neue"/>
                        </a:rPr>
                        <a:t>10</a:t>
                      </a:r>
                    </a:p>
                  </a:txBody>
                  <a:tcPr marL="91440" marR="91440" marT="45720" marB="45720">
                    <a:solidFill>
                      <a:srgbClr val="F0F4EF"/>
                    </a:solidFill>
                  </a:tcPr>
                </a:tc>
              </a:tr>
              <a:tr h="465667">
                <a:tc>
                  <a:txBody>
                    <a:bodyPr/>
                    <a:lstStyle/>
                    <a:p>
                      <a:r>
                        <a:rPr sz="1800" b="0">
                          <a:solidFill>
                            <a:srgbClr val="233B36"/>
                          </a:solidFill>
                          <a:latin typeface="Helvetica Neue"/>
                          <a:ea typeface="Helvetica Neue"/>
                          <a:cs typeface="Helvetica Neue"/>
                        </a:rPr>
                        <a:t>QA and UAT</a:t>
                      </a:r>
                    </a:p>
                  </a:txBody>
                  <a:tcPr marL="91440" marR="91440" marT="45720" marB="45720">
                    <a:solidFill>
                      <a:srgbClr val="FFFFFF"/>
                    </a:solidFill>
                  </a:tcPr>
                </a:tc>
                <a:tc>
                  <a:txBody>
                    <a:bodyPr/>
                    <a:lstStyle/>
                    <a:p>
                      <a:r>
                        <a:rPr sz="1800" b="0">
                          <a:solidFill>
                            <a:srgbClr val="233B36"/>
                          </a:solidFill>
                          <a:latin typeface="Helvetica Neue"/>
                          <a:ea typeface="Helvetica Neue"/>
                          <a:cs typeface="Helvetica Neue"/>
                        </a:rPr>
                        <a:t>8</a:t>
                      </a:r>
                    </a:p>
                  </a:txBody>
                  <a:tcPr marL="91440" marR="91440" marT="45720" marB="45720">
                    <a:solidFill>
                      <a:srgbClr val="FFFFFF"/>
                    </a:solidFill>
                  </a:tcPr>
                </a:tc>
              </a:tr>
              <a:tr h="465667">
                <a:tc>
                  <a:txBody>
                    <a:bodyPr/>
                    <a:lstStyle/>
                    <a:p>
                      <a:r>
                        <a:rPr sz="1800" b="0">
                          <a:solidFill>
                            <a:srgbClr val="233B36"/>
                          </a:solidFill>
                          <a:latin typeface="Helvetica Neue"/>
                          <a:ea typeface="Helvetica Neue"/>
                          <a:cs typeface="Helvetica Neue"/>
                        </a:rPr>
                        <a:t>Leadership and handover</a:t>
                      </a:r>
                    </a:p>
                  </a:txBody>
                  <a:tcPr marL="91440" marR="91440" marT="45720" marB="45720">
                    <a:solidFill>
                      <a:srgbClr val="F0F4EF"/>
                    </a:solidFill>
                  </a:tcPr>
                </a:tc>
                <a:tc>
                  <a:txBody>
                    <a:bodyPr/>
                    <a:lstStyle/>
                    <a:p>
                      <a:r>
                        <a:rPr sz="1800" b="0">
                          <a:solidFill>
                            <a:srgbClr val="233B36"/>
                          </a:solidFill>
                          <a:latin typeface="Helvetica Neue"/>
                          <a:ea typeface="Helvetica Neue"/>
                          <a:cs typeface="Helvetica Neue"/>
                        </a:rPr>
                        <a:t>5</a:t>
                      </a:r>
                    </a:p>
                  </a:txBody>
                  <a:tcPr marL="91440" marR="91440" marT="45720" marB="45720">
                    <a:solidFill>
                      <a:srgbClr val="F0F4EF"/>
                    </a:solidFill>
                  </a:tcPr>
                </a:tc>
              </a:tr>
              <a:tr h="465667">
                <a:tc>
                  <a:txBody>
                    <a:bodyPr/>
                    <a:lstStyle/>
                    <a:p>
                      <a:r>
                        <a:rPr sz="1800" b="0">
                          <a:solidFill>
                            <a:srgbClr val="233B36"/>
                          </a:solidFill>
                          <a:latin typeface="Helvetica Neue"/>
                          <a:ea typeface="Helvetica Neue"/>
                          <a:cs typeface="Helvetica Neue"/>
                        </a:rPr>
                        <a:t>Base effort</a:t>
                      </a:r>
                    </a:p>
                  </a:txBody>
                  <a:tcPr marL="91440" marR="91440" marT="45720" marB="45720">
                    <a:solidFill>
                      <a:srgbClr val="FFFFFF"/>
                    </a:solidFill>
                  </a:tcPr>
                </a:tc>
                <a:tc>
                  <a:txBody>
                    <a:bodyPr/>
                    <a:lstStyle/>
                    <a:p>
                      <a:r>
                        <a:rPr sz="1800" b="0">
                          <a:solidFill>
                            <a:srgbClr val="233B36"/>
                          </a:solidFill>
                          <a:latin typeface="Helvetica Neue"/>
                          <a:ea typeface="Helvetica Neue"/>
                          <a:cs typeface="Helvetica Neue"/>
                        </a:rPr>
                        <a:t>38</a:t>
                      </a:r>
                    </a:p>
                  </a:txBody>
                  <a:tcPr marL="91440" marR="91440" marT="45720" marB="45720">
                    <a:solidFill>
                      <a:srgbClr val="FFFFFF"/>
                    </a:solidFill>
                  </a:tcPr>
                </a:tc>
              </a:tr>
              <a:tr h="465667">
                <a:tc>
                  <a:txBody>
                    <a:bodyPr/>
                    <a:lstStyle/>
                    <a:p>
                      <a:r>
                        <a:rPr sz="1800" b="0">
                          <a:solidFill>
                            <a:srgbClr val="233B36"/>
                          </a:solidFill>
                          <a:latin typeface="Helvetica Neue"/>
                          <a:ea typeface="Helvetica Neue"/>
                          <a:cs typeface="Helvetica Neue"/>
                        </a:rPr>
                        <a:t>Contingency</a:t>
                      </a:r>
                    </a:p>
                  </a:txBody>
                  <a:tcPr marL="91440" marR="91440" marT="45720" marB="45720">
                    <a:solidFill>
                      <a:srgbClr val="F0F4EF"/>
                    </a:solidFill>
                  </a:tcPr>
                </a:tc>
                <a:tc>
                  <a:txBody>
                    <a:bodyPr/>
                    <a:lstStyle/>
                    <a:p>
                      <a:r>
                        <a:rPr sz="1800" b="0">
                          <a:solidFill>
                            <a:srgbClr val="233B36"/>
                          </a:solidFill>
                          <a:latin typeface="Helvetica Neue"/>
                          <a:ea typeface="Helvetica Neue"/>
                          <a:cs typeface="Helvetica Neue"/>
                        </a:rPr>
                        <a:t>8</a:t>
                      </a:r>
                    </a:p>
                  </a:txBody>
                  <a:tcPr marL="91440" marR="91440" marT="45720" marB="45720">
                    <a:solidFill>
                      <a:srgbClr val="F0F4EF"/>
                    </a:solidFill>
                  </a:tcPr>
                </a:tc>
              </a:tr>
              <a:tr h="465667">
                <a:tc>
                  <a:txBody>
                    <a:bodyPr/>
                    <a:lstStyle/>
                    <a:p>
                      <a:r>
                        <a:rPr sz="1800" b="0">
                          <a:solidFill>
                            <a:srgbClr val="233B36"/>
                          </a:solidFill>
                          <a:latin typeface="Helvetica Neue"/>
                          <a:ea typeface="Helvetica Neue"/>
                          <a:cs typeface="Helvetica Neue"/>
                        </a:rPr>
                        <a:t>Total pilot effort</a:t>
                      </a:r>
                    </a:p>
                  </a:txBody>
                  <a:tcPr marL="91440" marR="91440" marT="45720" marB="45720">
                    <a:solidFill>
                      <a:srgbClr val="FFFFFF"/>
                    </a:solidFill>
                  </a:tcPr>
                </a:tc>
                <a:tc>
                  <a:txBody>
                    <a:bodyPr/>
                    <a:lstStyle/>
                    <a:p>
                      <a:r>
                        <a:rPr sz="1800" b="0">
                          <a:solidFill>
                            <a:srgbClr val="233B36"/>
                          </a:solidFill>
                          <a:latin typeface="Helvetica Neue"/>
                          <a:ea typeface="Helvetica Neue"/>
                          <a:cs typeface="Helvetica Neue"/>
                        </a:rPr>
                        <a:t>46</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A67081D-F9E3-48D0-9D2E-03616D115C3F}"/>
              </a:ext>
            </a:extLst>
          </p:cNvPr>
          <p:cNvSpPr>
            <a:spLocks xmlns:a="http://schemas.openxmlformats.org/drawingml/2006/main" noGrp="1"/>
          </p:cNvSpPr>
          <p:nvPr/>
        </p:nvSpPr>
        <p:spPr>
          <a:xfrm xmlns:a="http://schemas.openxmlformats.org/drawingml/2006/main">
            <a:off x="8858250" y="1714500"/>
            <a:ext cx="2619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33B36"/>
                </a:solidFill>
                <a:latin typeface="Helvetica Neue"/>
                <a:ea typeface="Helvetica Neue"/>
                <a:cs typeface="Helvetica Neue"/>
              </a:defRPr>
            </a:pPr>
            <a:r>
              <a:rPr sz="2250" b="1">
                <a:solidFill>
                  <a:srgbClr val="233B36"/>
                </a:solidFill>
                <a:latin typeface="Helvetica Neue"/>
                <a:ea typeface="Helvetica Neue"/>
                <a:cs typeface="Helvetica Neue"/>
              </a:rPr>
              <a:t>4 calendar weeks</a:t>
            </a:r>
          </a:p>
        </p:txBody>
      </p:sp>
      <p:sp>
        <p:nvSpPr>
          <p:cNvPr id="5" name="">
            <a:extLst xmlns:a="http://schemas.openxmlformats.org/drawingml/2006/main">
              <a:ext uri="{FF2B5EF4-FFF2-40B4-BE49-F238E27FC236}">
                <a16:creationId xmlns:a16="http://schemas.microsoft.com/office/drawing/2014/main" id="{8E5BAF9F-E61D-4C0F-BDF1-42A0FAC1F4C1}"/>
              </a:ext>
            </a:extLst>
          </p:cNvPr>
          <p:cNvSpPr>
            <a:spLocks xmlns:a="http://schemas.openxmlformats.org/drawingml/2006/main" noGrp="1"/>
          </p:cNvSpPr>
          <p:nvPr/>
        </p:nvSpPr>
        <p:spPr>
          <a:xfrm xmlns:a="http://schemas.openxmlformats.org/drawingml/2006/main">
            <a:off x="8858250" y="2714625"/>
            <a:ext cx="2619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33B36"/>
                </a:solidFill>
                <a:latin typeface="Helvetica Neue"/>
                <a:ea typeface="Helvetica Neue"/>
                <a:cs typeface="Helvetica Neue"/>
              </a:defRPr>
            </a:pPr>
            <a:r>
              <a:rPr sz="1800" b="0">
                <a:solidFill>
                  <a:srgbClr val="233B36"/>
                </a:solidFill>
                <a:latin typeface="Helvetica Neue"/>
                <a:ea typeface="Helvetica Neue"/>
                <a:cs typeface="Helvetica Neue"/>
              </a:rPr>
              <a:t>W1  Scope + API round-trip</a:t>
            </a:r>
          </a:p>
        </p:txBody>
      </p:sp>
      <p:sp>
        <p:nvSpPr>
          <p:cNvPr id="6" name="">
            <a:extLst xmlns:a="http://schemas.openxmlformats.org/drawingml/2006/main">
              <a:ext uri="{FF2B5EF4-FFF2-40B4-BE49-F238E27FC236}">
                <a16:creationId xmlns:a16="http://schemas.microsoft.com/office/drawing/2014/main" id="{F709248F-3079-4FC3-BAD6-B22F144D2729}"/>
              </a:ext>
            </a:extLst>
          </p:cNvPr>
          <p:cNvSpPr>
            <a:spLocks xmlns:a="http://schemas.openxmlformats.org/drawingml/2006/main" noGrp="1"/>
          </p:cNvSpPr>
          <p:nvPr/>
        </p:nvSpPr>
        <p:spPr>
          <a:xfrm xmlns:a="http://schemas.openxmlformats.org/drawingml/2006/main">
            <a:off x="8858250" y="3476625"/>
            <a:ext cx="2619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33B36"/>
                </a:solidFill>
                <a:latin typeface="Helvetica Neue"/>
                <a:ea typeface="Helvetica Neue"/>
                <a:cs typeface="Helvetica Neue"/>
              </a:defRPr>
            </a:pPr>
            <a:r>
              <a:rPr sz="1800" b="0">
                <a:solidFill>
                  <a:srgbClr val="233B36"/>
                </a:solidFill>
                <a:latin typeface="Helvetica Neue"/>
                <a:ea typeface="Helvetica Neue"/>
                <a:cs typeface="Helvetica Neue"/>
              </a:rPr>
              <a:t>W2  Complete request journey</a:t>
            </a:r>
          </a:p>
        </p:txBody>
      </p:sp>
      <p:sp>
        <p:nvSpPr>
          <p:cNvPr id="7" name="">
            <a:extLst xmlns:a="http://schemas.openxmlformats.org/drawingml/2006/main">
              <a:ext uri="{FF2B5EF4-FFF2-40B4-BE49-F238E27FC236}">
                <a16:creationId xmlns:a16="http://schemas.microsoft.com/office/drawing/2014/main" id="{32AE9B7F-9D41-4D9B-B29B-9FFF2A2D12F4}"/>
              </a:ext>
            </a:extLst>
          </p:cNvPr>
          <p:cNvSpPr>
            <a:spLocks xmlns:a="http://schemas.openxmlformats.org/drawingml/2006/main" noGrp="1"/>
          </p:cNvSpPr>
          <p:nvPr/>
        </p:nvSpPr>
        <p:spPr>
          <a:xfrm xmlns:a="http://schemas.openxmlformats.org/drawingml/2006/main">
            <a:off x="8858250" y="4238625"/>
            <a:ext cx="2619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33B36"/>
                </a:solidFill>
                <a:latin typeface="Helvetica Neue"/>
                <a:ea typeface="Helvetica Neue"/>
                <a:cs typeface="Helvetica Neue"/>
              </a:defRPr>
            </a:pPr>
            <a:r>
              <a:rPr sz="1800" b="0">
                <a:solidFill>
                  <a:srgbClr val="233B36"/>
                </a:solidFill>
                <a:latin typeface="Helvetica Neue"/>
                <a:ea typeface="Helvetica Neue"/>
                <a:cs typeface="Helvetica Neue"/>
              </a:rPr>
              <a:t>W3  Workflow + controls</a:t>
            </a:r>
          </a:p>
        </p:txBody>
      </p:sp>
      <p:sp>
        <p:nvSpPr>
          <p:cNvPr id="8" name="">
            <a:extLst xmlns:a="http://schemas.openxmlformats.org/drawingml/2006/main">
              <a:ext uri="{FF2B5EF4-FFF2-40B4-BE49-F238E27FC236}">
                <a16:creationId xmlns:a16="http://schemas.microsoft.com/office/drawing/2014/main" id="{F2EEF34F-FBF5-4A8A-89E4-17964E967AA7}"/>
              </a:ext>
            </a:extLst>
          </p:cNvPr>
          <p:cNvSpPr>
            <a:spLocks xmlns:a="http://schemas.openxmlformats.org/drawingml/2006/main" noGrp="1"/>
          </p:cNvSpPr>
          <p:nvPr/>
        </p:nvSpPr>
        <p:spPr>
          <a:xfrm xmlns:a="http://schemas.openxmlformats.org/drawingml/2006/main">
            <a:off x="8858250" y="5000625"/>
            <a:ext cx="2619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33B36"/>
                </a:solidFill>
                <a:latin typeface="Helvetica Neue"/>
                <a:ea typeface="Helvetica Neue"/>
                <a:cs typeface="Helvetica Neue"/>
              </a:defRPr>
            </a:pPr>
            <a:r>
              <a:rPr sz="1800" b="0">
                <a:solidFill>
                  <a:srgbClr val="233B36"/>
                </a:solidFill>
                <a:latin typeface="Helvetica Neue"/>
                <a:ea typeface="Helvetica Neue"/>
                <a:cs typeface="Helvetica Neue"/>
              </a:rPr>
              <a:t>W4  UAT + release readiness</a:t>
            </a:r>
          </a:p>
        </p:txBody>
      </p:sp>
    </p:spTree>
    <p:extLst>
      <p:ext uri="{BB962C8B-B14F-4D97-AF65-F5344CB8AC3E}">
        <p14:creationId xmlns:p14="http://schemas.microsoft.com/office/powerpoint/2010/main" val="698541140"/>
      </p:ext>
    </p:extLst>
  </p:cSld>
</p:sld>
</file>

<file path=ppt/slides/slide12.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F5B0982-2895-4BE3-8AF9-966767C4121E}"/>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33B36"/>
                </a:solidFill>
                <a:latin typeface="Helvetica Neue"/>
                <a:ea typeface="Helvetica Neue"/>
                <a:cs typeface="Helvetica Neue"/>
              </a:defRPr>
            </a:pPr>
            <a:r>
              <a:rPr sz="1350" b="0">
                <a:solidFill>
                  <a:srgbClr val="233B36"/>
                </a:solidFill>
                <a:latin typeface="Helvetica Neue"/>
                <a:ea typeface="Helvetica Neue"/>
                <a:cs typeface="Helvetica Neue"/>
              </a:rPr>
              <a:t>12 / 15</a:t>
            </a:r>
          </a:p>
        </p:txBody>
      </p:sp>
      <p:sp>
        <p:nvSpPr>
          <p:cNvPr id="2" name="">
            <a:extLst xmlns:a="http://schemas.openxmlformats.org/drawingml/2006/main">
              <a:ext uri="{FF2B5EF4-FFF2-40B4-BE49-F238E27FC236}">
                <a16:creationId xmlns:a16="http://schemas.microsoft.com/office/drawing/2014/main" id="{35686F82-708A-4667-9F35-308A51864F4C}"/>
              </a:ext>
            </a:extLst>
          </p:cNvPr>
          <p:cNvSpPr>
            <a:spLocks xmlns:a="http://schemas.openxmlformats.org/drawingml/2006/main" noGrp="1"/>
          </p:cNvSpPr>
          <p:nvPr/>
        </p:nvSpPr>
        <p:spPr>
          <a:xfrm xmlns:a="http://schemas.openxmlformats.org/drawingml/2006/main">
            <a:off x="685800" y="495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33B36"/>
                </a:solidFill>
                <a:latin typeface="Helvetica Neue"/>
                <a:ea typeface="Helvetica Neue"/>
                <a:cs typeface="Helvetica Neue"/>
              </a:defRPr>
            </a:pPr>
            <a:r>
              <a:rPr sz="3450" b="1">
                <a:solidFill>
                  <a:srgbClr val="233B36"/>
                </a:solidFill>
                <a:latin typeface="Helvetica Neue"/>
                <a:ea typeface="Helvetica Neue"/>
                <a:cs typeface="Helvetica Neue"/>
              </a:rPr>
              <a:t>Team ownership and delivery</a:t>
            </a:r>
          </a:p>
        </p:txBody>
      </p:sp>
      <p:sp>
        <p:nvSpPr>
          <p:cNvPr id="3" name="">
            <a:extLst xmlns:a="http://schemas.openxmlformats.org/drawingml/2006/main">
              <a:ext uri="{FF2B5EF4-FFF2-40B4-BE49-F238E27FC236}">
                <a16:creationId xmlns:a16="http://schemas.microsoft.com/office/drawing/2014/main" id="{0F38E93B-01DE-4A8D-8344-5D932E1F085C}"/>
              </a:ext>
            </a:extLst>
          </p:cNvPr>
          <p:cNvSpPr>
            <a:spLocks xmlns:a="http://schemas.openxmlformats.org/drawingml/2006/main" noGrp="1"/>
          </p:cNvSpPr>
          <p:nvPr/>
        </p:nvSpPr>
        <p:spPr>
          <a:xfrm xmlns:a="http://schemas.openxmlformats.org/drawingml/2006/main">
            <a:off x="685800" y="16668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The solution engineer owns discovery, architecture and acceptance evidence.</a:t>
            </a:r>
          </a:p>
        </p:txBody>
      </p:sp>
      <p:sp>
        <p:nvSpPr>
          <p:cNvPr id="4" name="">
            <a:extLst xmlns:a="http://schemas.openxmlformats.org/drawingml/2006/main">
              <a:ext uri="{FF2B5EF4-FFF2-40B4-BE49-F238E27FC236}">
                <a16:creationId xmlns:a16="http://schemas.microsoft.com/office/drawing/2014/main" id="{B81F1186-3580-4525-BBC9-4F8CFB89C4D9}"/>
              </a:ext>
            </a:extLst>
          </p:cNvPr>
          <p:cNvSpPr>
            <a:spLocks xmlns:a="http://schemas.openxmlformats.org/drawingml/2006/main" noGrp="1"/>
          </p:cNvSpPr>
          <p:nvPr/>
        </p:nvSpPr>
        <p:spPr>
          <a:xfrm xmlns:a="http://schemas.openxmlformats.org/drawingml/2006/main">
            <a:off x="685800" y="2667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Junior engineers take bounded UI tasks with examples and clear criteria.</a:t>
            </a:r>
          </a:p>
        </p:txBody>
      </p:sp>
      <p:sp>
        <p:nvSpPr>
          <p:cNvPr id="5" name="">
            <a:extLst xmlns:a="http://schemas.openxmlformats.org/drawingml/2006/main">
              <a:ext uri="{FF2B5EF4-FFF2-40B4-BE49-F238E27FC236}">
                <a16:creationId xmlns:a16="http://schemas.microsoft.com/office/drawing/2014/main" id="{C6876887-7131-477C-A3C1-EE3F48366C76}"/>
              </a:ext>
            </a:extLst>
          </p:cNvPr>
          <p:cNvSpPr>
            <a:spLocks xmlns:a="http://schemas.openxmlformats.org/drawingml/2006/main" noGrp="1"/>
          </p:cNvSpPr>
          <p:nvPr/>
        </p:nvSpPr>
        <p:spPr>
          <a:xfrm xmlns:a="http://schemas.openxmlformats.org/drawingml/2006/main">
            <a:off x="685800" y="36671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Backend engineers own policy, persistence and reliable workflow dispatch.</a:t>
            </a:r>
          </a:p>
        </p:txBody>
      </p:sp>
      <p:sp>
        <p:nvSpPr>
          <p:cNvPr id="6" name="">
            <a:extLst xmlns:a="http://schemas.openxmlformats.org/drawingml/2006/main">
              <a:ext uri="{FF2B5EF4-FFF2-40B4-BE49-F238E27FC236}">
                <a16:creationId xmlns:a16="http://schemas.microsoft.com/office/drawing/2014/main" id="{BFE1DC91-54BC-4D0C-AD41-4F4542BFC2FD}"/>
              </a:ext>
            </a:extLst>
          </p:cNvPr>
          <p:cNvSpPr>
            <a:spLocks xmlns:a="http://schemas.openxmlformats.org/drawingml/2006/main" noGrp="1"/>
          </p:cNvSpPr>
          <p:nvPr/>
        </p:nvSpPr>
        <p:spPr>
          <a:xfrm xmlns:a="http://schemas.openxmlformats.org/drawingml/2006/main">
            <a:off x="685800" y="46672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QA runs regression and defect retests. The business owner signs acceptance.</a:t>
            </a:r>
          </a:p>
        </p:txBody>
      </p:sp>
      <p:sp>
        <p:nvSpPr>
          <p:cNvPr id="7" name="">
            <a:extLst xmlns:a="http://schemas.openxmlformats.org/drawingml/2006/main">
              <a:ext uri="{FF2B5EF4-FFF2-40B4-BE49-F238E27FC236}">
                <a16:creationId xmlns:a16="http://schemas.microsoft.com/office/drawing/2014/main" id="{B95F1087-1262-492D-966E-D0F87F9508E8}"/>
              </a:ext>
            </a:extLst>
          </p:cNvPr>
          <p:cNvSpPr>
            <a:spLocks xmlns:a="http://schemas.openxmlformats.org/drawingml/2006/main" noGrp="1"/>
          </p:cNvSpPr>
          <p:nvPr/>
        </p:nvSpPr>
        <p:spPr>
          <a:xfrm xmlns:a="http://schemas.openxmlformats.org/drawingml/2006/main">
            <a:off x="685800" y="56197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F36"/>
                </a:solidFill>
                <a:latin typeface="Helvetica Neue"/>
                <a:ea typeface="Helvetica Neue"/>
                <a:cs typeface="Helvetica Neue"/>
              </a:defRPr>
            </a:pPr>
            <a:r>
              <a:rPr sz="1800" b="1">
                <a:solidFill>
                  <a:srgbClr val="183F36"/>
                </a:solidFill>
                <a:latin typeface="Helvetica Neue"/>
                <a:ea typeface="Helvetica Neue"/>
                <a:cs typeface="Helvetica Neue"/>
              </a:rPr>
              <a:t>Small PRs, one paired integration first, two customer demos each week</a:t>
            </a:r>
          </a:p>
        </p:txBody>
      </p:sp>
    </p:spTree>
    <p:extLst>
      <p:ext uri="{BB962C8B-B14F-4D97-AF65-F5344CB8AC3E}">
        <p14:creationId xmlns:p14="http://schemas.microsoft.com/office/powerpoint/2010/main" val="1593182536"/>
      </p:ext>
    </p:extLst>
  </p:cSld>
</p:sld>
</file>

<file path=ppt/slides/slide13.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402A7B3-6E27-41B1-94AA-9C88FF9CE93C}"/>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33B36"/>
                </a:solidFill>
                <a:latin typeface="Helvetica Neue"/>
                <a:ea typeface="Helvetica Neue"/>
                <a:cs typeface="Helvetica Neue"/>
              </a:defRPr>
            </a:pPr>
            <a:r>
              <a:rPr sz="1350" b="0">
                <a:solidFill>
                  <a:srgbClr val="233B36"/>
                </a:solidFill>
                <a:latin typeface="Helvetica Neue"/>
                <a:ea typeface="Helvetica Neue"/>
                <a:cs typeface="Helvetica Neue"/>
              </a:rPr>
              <a:t>13 / 15</a:t>
            </a:r>
          </a:p>
        </p:txBody>
      </p:sp>
      <p:sp>
        <p:nvSpPr>
          <p:cNvPr id="2" name="">
            <a:extLst xmlns:a="http://schemas.openxmlformats.org/drawingml/2006/main">
              <a:ext uri="{FF2B5EF4-FFF2-40B4-BE49-F238E27FC236}">
                <a16:creationId xmlns:a16="http://schemas.microsoft.com/office/drawing/2014/main" id="{D6F616FE-710C-49F9-965C-F069BB34437C}"/>
              </a:ext>
            </a:extLst>
          </p:cNvPr>
          <p:cNvSpPr>
            <a:spLocks xmlns:a="http://schemas.openxmlformats.org/drawingml/2006/main" noGrp="1"/>
          </p:cNvSpPr>
          <p:nvPr/>
        </p:nvSpPr>
        <p:spPr>
          <a:xfrm xmlns:a="http://schemas.openxmlformats.org/drawingml/2006/main">
            <a:off x="685800" y="495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33B36"/>
                </a:solidFill>
                <a:latin typeface="Helvetica Neue"/>
                <a:ea typeface="Helvetica Neue"/>
                <a:cs typeface="Helvetica Neue"/>
              </a:defRPr>
            </a:pPr>
            <a:r>
              <a:rPr sz="3450" b="1">
                <a:solidFill>
                  <a:srgbClr val="233B36"/>
                </a:solidFill>
                <a:latin typeface="Helvetica Neue"/>
                <a:ea typeface="Helvetica Neue"/>
                <a:cs typeface="Helvetica Neue"/>
              </a:rPr>
              <a:t>Risk register and release gates</a:t>
            </a:r>
          </a:p>
        </p:txBody>
      </p:sp>
      <p:graphicFrame>
        <p:nvGraphicFramePr>
          <p:cNvPr id="7" name=""/>
          <p:cNvGraphicFramePr/>
          <p:nvPr/>
        </p:nvGraphicFramePr>
        <p:xfrm>
          <a:off xmlns:a="http://schemas.openxmlformats.org/drawingml/2006/main" x="685800" y="1714500"/>
          <a:ext xmlns:a="http://schemas.openxmlformats.org/drawingml/2006/main" cx="10820400" cy="3571875"/>
        </p:xfrm>
        <a:graphic xmlns:a="http://schemas.openxmlformats.org/drawingml/2006/main">
          <a:graphicData uri="http://schemas.openxmlformats.org/drawingml/2006/table">
            <a:tbl>
              <a:tblPr/>
              <a:tblGrid>
                <a:gridCol w="2857500"/>
                <a:gridCol w="5334000"/>
                <a:gridCol w="2628900"/>
              </a:tblGrid>
              <a:tr h="714375">
                <a:tc>
                  <a:txBody>
                    <a:bodyPr/>
                    <a:lstStyle/>
                    <a:p>
                      <a:r>
                        <a:rPr sz="1800" b="1">
                          <a:solidFill>
                            <a:srgbClr val="FFFFFF"/>
                          </a:solidFill>
                          <a:latin typeface="Helvetica Neue"/>
                          <a:ea typeface="Helvetica Neue"/>
                          <a:cs typeface="Helvetica Neue"/>
                        </a:rPr>
                        <a:t>Risk</a:t>
                      </a:r>
                    </a:p>
                  </a:txBody>
                  <a:tcPr marL="91440" marR="91440" marT="45720" marB="45720">
                    <a:solidFill>
                      <a:srgbClr val="183F36"/>
                    </a:solidFill>
                  </a:tcPr>
                </a:tc>
                <a:tc>
                  <a:txBody>
                    <a:bodyPr/>
                    <a:lstStyle/>
                    <a:p>
                      <a:r>
                        <a:rPr sz="1800" b="1">
                          <a:solidFill>
                            <a:srgbClr val="FFFFFF"/>
                          </a:solidFill>
                          <a:latin typeface="Helvetica Neue"/>
                          <a:ea typeface="Helvetica Neue"/>
                          <a:cs typeface="Helvetica Neue"/>
                        </a:rPr>
                        <a:t>Control / gate</a:t>
                      </a:r>
                    </a:p>
                  </a:txBody>
                  <a:tcPr marL="91440" marR="91440" marT="45720" marB="45720">
                    <a:solidFill>
                      <a:srgbClr val="183F36"/>
                    </a:solidFill>
                  </a:tcPr>
                </a:tc>
                <a:tc>
                  <a:txBody>
                    <a:bodyPr/>
                    <a:lstStyle/>
                    <a:p>
                      <a:r>
                        <a:rPr sz="1800" b="1">
                          <a:solidFill>
                            <a:srgbClr val="FFFFFF"/>
                          </a:solidFill>
                          <a:latin typeface="Helvetica Neue"/>
                          <a:ea typeface="Helvetica Neue"/>
                          <a:cs typeface="Helvetica Neue"/>
                        </a:rPr>
                        <a:t>Owner</a:t>
                      </a:r>
                    </a:p>
                  </a:txBody>
                  <a:tcPr marL="91440" marR="91440" marT="45720" marB="45720">
                    <a:solidFill>
                      <a:srgbClr val="183F36"/>
                    </a:solidFill>
                  </a:tcPr>
                </a:tc>
              </a:tr>
              <a:tr h="714375">
                <a:tc>
                  <a:txBody>
                    <a:bodyPr/>
                    <a:lstStyle/>
                    <a:p>
                      <a:r>
                        <a:rPr sz="1800" b="0">
                          <a:solidFill>
                            <a:srgbClr val="233B36"/>
                          </a:solidFill>
                          <a:latin typeface="Helvetica Neue"/>
                          <a:ea typeface="Helvetica Neue"/>
                          <a:cs typeface="Helvetica Neue"/>
                        </a:rPr>
                        <a:t>API contract changes</a:t>
                      </a:r>
                    </a:p>
                  </a:txBody>
                  <a:tcPr marL="91440" marR="91440" marT="45720" marB="45720">
                    <a:solidFill>
                      <a:srgbClr val="F0F4EF"/>
                    </a:solidFill>
                  </a:tcPr>
                </a:tc>
                <a:tc>
                  <a:txBody>
                    <a:bodyPr/>
                    <a:lstStyle/>
                    <a:p>
                      <a:r>
                        <a:rPr sz="1800" b="0">
                          <a:solidFill>
                            <a:srgbClr val="233B36"/>
                          </a:solidFill>
                          <a:latin typeface="Helvetica Neue"/>
                          <a:ea typeface="Helvetica Neue"/>
                          <a:cs typeface="Helvetica Neue"/>
                        </a:rPr>
                        <a:t>Early round-trip; re-estimate scope</a:t>
                      </a:r>
                    </a:p>
                  </a:txBody>
                  <a:tcPr marL="91440" marR="91440" marT="45720" marB="45720">
                    <a:solidFill>
                      <a:srgbClr val="F0F4EF"/>
                    </a:solidFill>
                  </a:tcPr>
                </a:tc>
                <a:tc>
                  <a:txBody>
                    <a:bodyPr/>
                    <a:lstStyle/>
                    <a:p>
                      <a:r>
                        <a:rPr sz="1800" b="0">
                          <a:solidFill>
                            <a:srgbClr val="233B36"/>
                          </a:solidFill>
                          <a:latin typeface="Helvetica Neue"/>
                          <a:ea typeface="Helvetica Neue"/>
                          <a:cs typeface="Helvetica Neue"/>
                        </a:rPr>
                        <a:t>Solution + backend</a:t>
                      </a:r>
                    </a:p>
                  </a:txBody>
                  <a:tcPr marL="91440" marR="91440" marT="45720" marB="45720">
                    <a:solidFill>
                      <a:srgbClr val="F0F4EF"/>
                    </a:solidFill>
                  </a:tcPr>
                </a:tc>
              </a:tr>
              <a:tr h="714375">
                <a:tc>
                  <a:txBody>
                    <a:bodyPr/>
                    <a:lstStyle/>
                    <a:p>
                      <a:r>
                        <a:rPr sz="1800" b="0">
                          <a:solidFill>
                            <a:srgbClr val="233B36"/>
                          </a:solidFill>
                          <a:latin typeface="Helvetica Neue"/>
                          <a:ea typeface="Helvetica Neue"/>
                          <a:cs typeface="Helvetica Neue"/>
                        </a:rPr>
                        <a:t>Unauthorized access</a:t>
                      </a:r>
                    </a:p>
                  </a:txBody>
                  <a:tcPr marL="91440" marR="91440" marT="45720" marB="45720">
                    <a:solidFill>
                      <a:srgbClr val="FFFFFF"/>
                    </a:solidFill>
                  </a:tcPr>
                </a:tc>
                <a:tc>
                  <a:txBody>
                    <a:bodyPr/>
                    <a:lstStyle/>
                    <a:p>
                      <a:r>
                        <a:rPr sz="1800" b="0">
                          <a:solidFill>
                            <a:srgbClr val="233B36"/>
                          </a:solidFill>
                          <a:latin typeface="Helvetica Neue"/>
                          <a:ea typeface="Helvetica Neue"/>
                          <a:cs typeface="Helvetica Neue"/>
                        </a:rPr>
                        <a:t>Negative API tests; block release</a:t>
                      </a:r>
                    </a:p>
                  </a:txBody>
                  <a:tcPr marL="91440" marR="91440" marT="45720" marB="45720">
                    <a:solidFill>
                      <a:srgbClr val="FFFFFF"/>
                    </a:solidFill>
                  </a:tcPr>
                </a:tc>
                <a:tc>
                  <a:txBody>
                    <a:bodyPr/>
                    <a:lstStyle/>
                    <a:p>
                      <a:r>
                        <a:rPr sz="1800" b="0">
                          <a:solidFill>
                            <a:srgbClr val="233B36"/>
                          </a:solidFill>
                          <a:latin typeface="Helvetica Neue"/>
                          <a:ea typeface="Helvetica Neue"/>
                          <a:cs typeface="Helvetica Neue"/>
                        </a:rPr>
                        <a:t>Backend + QA</a:t>
                      </a:r>
                    </a:p>
                  </a:txBody>
                  <a:tcPr marL="91440" marR="91440" marT="45720" marB="45720">
                    <a:solidFill>
                      <a:srgbClr val="FFFFFF"/>
                    </a:solidFill>
                  </a:tcPr>
                </a:tc>
              </a:tr>
              <a:tr h="714375">
                <a:tc>
                  <a:txBody>
                    <a:bodyPr/>
                    <a:lstStyle/>
                    <a:p>
                      <a:r>
                        <a:rPr sz="1800" b="0">
                          <a:solidFill>
                            <a:srgbClr val="233B36"/>
                          </a:solidFill>
                          <a:latin typeface="Helvetica Neue"/>
                          <a:ea typeface="Helvetica Neue"/>
                          <a:cs typeface="Helvetica Neue"/>
                        </a:rPr>
                        <a:t>Unsafe attachments</a:t>
                      </a:r>
                    </a:p>
                  </a:txBody>
                  <a:tcPr marL="91440" marR="91440" marT="45720" marB="45720">
                    <a:solidFill>
                      <a:srgbClr val="F0F4EF"/>
                    </a:solidFill>
                  </a:tcPr>
                </a:tc>
                <a:tc>
                  <a:txBody>
                    <a:bodyPr/>
                    <a:lstStyle/>
                    <a:p>
                      <a:r>
                        <a:rPr sz="1800" b="0">
                          <a:solidFill>
                            <a:srgbClr val="233B36"/>
                          </a:solidFill>
                          <a:latin typeface="Helvetica Neue"/>
                          <a:ea typeface="Helvetica Neue"/>
                          <a:cs typeface="Helvetica Neue"/>
                        </a:rPr>
                        <a:t>Approved scanning and quarantine</a:t>
                      </a:r>
                    </a:p>
                  </a:txBody>
                  <a:tcPr marL="91440" marR="91440" marT="45720" marB="45720">
                    <a:solidFill>
                      <a:srgbClr val="F0F4EF"/>
                    </a:solidFill>
                  </a:tcPr>
                </a:tc>
                <a:tc>
                  <a:txBody>
                    <a:bodyPr/>
                    <a:lstStyle/>
                    <a:p>
                      <a:r>
                        <a:rPr sz="1800" b="0">
                          <a:solidFill>
                            <a:srgbClr val="233B36"/>
                          </a:solidFill>
                          <a:latin typeface="Helvetica Neue"/>
                          <a:ea typeface="Helvetica Neue"/>
                          <a:cs typeface="Helvetica Neue"/>
                        </a:rPr>
                        <a:t>Security + platform</a:t>
                      </a:r>
                    </a:p>
                  </a:txBody>
                  <a:tcPr marL="91440" marR="91440" marT="45720" marB="45720">
                    <a:solidFill>
                      <a:srgbClr val="F0F4EF"/>
                    </a:solidFill>
                  </a:tcPr>
                </a:tc>
              </a:tr>
              <a:tr h="714375">
                <a:tc>
                  <a:txBody>
                    <a:bodyPr/>
                    <a:lstStyle/>
                    <a:p>
                      <a:r>
                        <a:rPr sz="1800" b="0">
                          <a:solidFill>
                            <a:srgbClr val="233B36"/>
                          </a:solidFill>
                          <a:latin typeface="Helvetica Neue"/>
                          <a:ea typeface="Helvetica Neue"/>
                          <a:cs typeface="Helvetica Neue"/>
                        </a:rPr>
                        <a:t>Historical schema drift</a:t>
                      </a:r>
                    </a:p>
                  </a:txBody>
                  <a:tcPr marL="91440" marR="91440" marT="45720" marB="45720">
                    <a:solidFill>
                      <a:srgbClr val="FFFFFF"/>
                    </a:solidFill>
                  </a:tcPr>
                </a:tc>
                <a:tc>
                  <a:txBody>
                    <a:bodyPr/>
                    <a:lstStyle/>
                    <a:p>
                      <a:r>
                        <a:rPr sz="1800" b="0">
                          <a:solidFill>
                            <a:srgbClr val="233B36"/>
                          </a:solidFill>
                          <a:latin typeface="Helvetica Neue"/>
                          <a:ea typeface="Helvetica Neue"/>
                          <a:cs typeface="Helvetica Neue"/>
                        </a:rPr>
                        <a:t>Immutable versions; explicit upgrade</a:t>
                      </a:r>
                    </a:p>
                  </a:txBody>
                  <a:tcPr marL="91440" marR="91440" marT="45720" marB="45720">
                    <a:solidFill>
                      <a:srgbClr val="FFFFFF"/>
                    </a:solidFill>
                  </a:tcPr>
                </a:tc>
                <a:tc>
                  <a:txBody>
                    <a:bodyPr/>
                    <a:lstStyle/>
                    <a:p>
                      <a:r>
                        <a:rPr sz="1800" b="0">
                          <a:solidFill>
                            <a:srgbClr val="233B36"/>
                          </a:solidFill>
                          <a:latin typeface="Helvetica Neue"/>
                          <a:ea typeface="Helvetica Neue"/>
                          <a:cs typeface="Helvetica Neue"/>
                        </a:rPr>
                        <a:t>Solution + backend</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536BC55-6A96-4AB5-A810-11599BF3C1E5}"/>
              </a:ext>
            </a:extLst>
          </p:cNvPr>
          <p:cNvSpPr>
            <a:spLocks xmlns:a="http://schemas.openxmlformats.org/drawingml/2006/main" noGrp="1"/>
          </p:cNvSpPr>
          <p:nvPr/>
        </p:nvSpPr>
        <p:spPr>
          <a:xfrm xmlns:a="http://schemas.openxmlformats.org/drawingml/2006/main">
            <a:off x="685800" y="56197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33B36"/>
                </a:solidFill>
                <a:latin typeface="Helvetica Neue"/>
                <a:ea typeface="Helvetica Neue"/>
                <a:cs typeface="Helvetica Neue"/>
              </a:defRPr>
            </a:pPr>
            <a:r>
              <a:rPr sz="2025" b="1">
                <a:solidFill>
                  <a:srgbClr val="233B36"/>
                </a:solidFill>
                <a:latin typeface="Helvetica Neue"/>
                <a:ea typeface="Helvetica Neue"/>
                <a:cs typeface="Helvetica Neue"/>
              </a:rPr>
              <a:t>Release gates: no critical/high defects, agreed rollback and named acceptance owner.</a:t>
            </a:r>
          </a:p>
        </p:txBody>
      </p:sp>
    </p:spTree>
    <p:extLst>
      <p:ext uri="{BB962C8B-B14F-4D97-AF65-F5344CB8AC3E}">
        <p14:creationId xmlns:p14="http://schemas.microsoft.com/office/powerpoint/2010/main" val="155928060"/>
      </p:ext>
    </p:extLst>
  </p:cSld>
</p:sld>
</file>

<file path=ppt/slides/slide14.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20EE45F-F5B5-4BBF-9E3A-4EB47BA3D617}"/>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33B36"/>
                </a:solidFill>
                <a:latin typeface="Helvetica Neue"/>
                <a:ea typeface="Helvetica Neue"/>
                <a:cs typeface="Helvetica Neue"/>
              </a:defRPr>
            </a:pPr>
            <a:r>
              <a:rPr sz="1350" b="0">
                <a:solidFill>
                  <a:srgbClr val="233B36"/>
                </a:solidFill>
                <a:latin typeface="Helvetica Neue"/>
                <a:ea typeface="Helvetica Neue"/>
                <a:cs typeface="Helvetica Neue"/>
              </a:rPr>
              <a:t>14 / 15</a:t>
            </a:r>
          </a:p>
        </p:txBody>
      </p:sp>
      <p:sp>
        <p:nvSpPr>
          <p:cNvPr id="2" name="">
            <a:extLst xmlns:a="http://schemas.openxmlformats.org/drawingml/2006/main">
              <a:ext uri="{FF2B5EF4-FFF2-40B4-BE49-F238E27FC236}">
                <a16:creationId xmlns:a16="http://schemas.microsoft.com/office/drawing/2014/main" id="{6FC0995E-9462-4C9A-AF60-73B609EE2B1D}"/>
              </a:ext>
            </a:extLst>
          </p:cNvPr>
          <p:cNvSpPr>
            <a:spLocks xmlns:a="http://schemas.openxmlformats.org/drawingml/2006/main" noGrp="1"/>
          </p:cNvSpPr>
          <p:nvPr/>
        </p:nvSpPr>
        <p:spPr>
          <a:xfrm xmlns:a="http://schemas.openxmlformats.org/drawingml/2006/main">
            <a:off x="685800" y="495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33B36"/>
                </a:solidFill>
                <a:latin typeface="Helvetica Neue"/>
                <a:ea typeface="Helvetica Neue"/>
                <a:cs typeface="Helvetica Neue"/>
              </a:defRPr>
            </a:pPr>
            <a:r>
              <a:rPr sz="3450" b="1">
                <a:solidFill>
                  <a:srgbClr val="233B36"/>
                </a:solidFill>
                <a:latin typeface="Helvetica Neue"/>
                <a:ea typeface="Helvetica Neue"/>
                <a:cs typeface="Helvetica Neue"/>
              </a:rPr>
              <a:t>UAT and acceptance</a:t>
            </a:r>
          </a:p>
        </p:txBody>
      </p:sp>
      <p:sp>
        <p:nvSpPr>
          <p:cNvPr id="3" name="">
            <a:extLst xmlns:a="http://schemas.openxmlformats.org/drawingml/2006/main">
              <a:ext uri="{FF2B5EF4-FFF2-40B4-BE49-F238E27FC236}">
                <a16:creationId xmlns:a16="http://schemas.microsoft.com/office/drawing/2014/main" id="{A29D2BCF-EDD7-4EF6-95F0-F1675FA54CE5}"/>
              </a:ext>
            </a:extLst>
          </p:cNvPr>
          <p:cNvSpPr>
            <a:spLocks xmlns:a="http://schemas.openxmlformats.org/drawingml/2006/main" noGrp="1"/>
          </p:cNvSpPr>
          <p:nvPr/>
        </p:nvSpPr>
        <p:spPr>
          <a:xfrm xmlns:a="http://schemas.openxmlformats.org/drawingml/2006/main">
            <a:off x="685800" y="16668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Agree scope, test accounts, representative forms and expected outcomes.</a:t>
            </a:r>
          </a:p>
        </p:txBody>
      </p:sp>
      <p:sp>
        <p:nvSpPr>
          <p:cNvPr id="4" name="">
            <a:extLst xmlns:a="http://schemas.openxmlformats.org/drawingml/2006/main">
              <a:ext uri="{FF2B5EF4-FFF2-40B4-BE49-F238E27FC236}">
                <a16:creationId xmlns:a16="http://schemas.microsoft.com/office/drawing/2014/main" id="{7FBDE985-3D28-4559-80B0-8BD91C6A4B63}"/>
              </a:ext>
            </a:extLst>
          </p:cNvPr>
          <p:cNvSpPr>
            <a:spLocks xmlns:a="http://schemas.openxmlformats.org/drawingml/2006/main" noGrp="1"/>
          </p:cNvSpPr>
          <p:nvPr/>
        </p:nvSpPr>
        <p:spPr>
          <a:xfrm xmlns:a="http://schemas.openxmlformats.org/drawingml/2006/main">
            <a:off x="685800" y="240982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Test conditions, save/reload, grants, files, upgrades and reviewer decisions.</a:t>
            </a:r>
          </a:p>
        </p:txBody>
      </p:sp>
      <p:sp>
        <p:nvSpPr>
          <p:cNvPr id="5" name="">
            <a:extLst xmlns:a="http://schemas.openxmlformats.org/drawingml/2006/main">
              <a:ext uri="{FF2B5EF4-FFF2-40B4-BE49-F238E27FC236}">
                <a16:creationId xmlns:a16="http://schemas.microsoft.com/office/drawing/2014/main" id="{E71BA369-23B7-4161-83B3-BED2B4BC2655}"/>
              </a:ext>
            </a:extLst>
          </p:cNvPr>
          <p:cNvSpPr>
            <a:spLocks xmlns:a="http://schemas.openxmlformats.org/drawingml/2006/main" noGrp="1"/>
          </p:cNvSpPr>
          <p:nvPr/>
        </p:nvSpPr>
        <p:spPr>
          <a:xfrm xmlns:a="http://schemas.openxmlformats.org/drawingml/2006/main">
            <a:off x="685800" y="31527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Record the build, role, input, result, evidence and defect owner.</a:t>
            </a:r>
          </a:p>
        </p:txBody>
      </p:sp>
      <p:sp>
        <p:nvSpPr>
          <p:cNvPr id="6" name="">
            <a:extLst xmlns:a="http://schemas.openxmlformats.org/drawingml/2006/main">
              <a:ext uri="{FF2B5EF4-FFF2-40B4-BE49-F238E27FC236}">
                <a16:creationId xmlns:a16="http://schemas.microsoft.com/office/drawing/2014/main" id="{61E80CB5-ADB5-4B17-A31D-C73C114CF7F2}"/>
              </a:ext>
            </a:extLst>
          </p:cNvPr>
          <p:cNvSpPr>
            <a:spLocks xmlns:a="http://schemas.openxmlformats.org/drawingml/2006/main" noGrp="1"/>
          </p:cNvSpPr>
          <p:nvPr/>
        </p:nvSpPr>
        <p:spPr>
          <a:xfrm xmlns:a="http://schemas.openxmlformats.org/drawingml/2006/main">
            <a:off x="685800" y="389572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Exit requires critical journeys passing and no open critical or high defects.</a:t>
            </a:r>
          </a:p>
        </p:txBody>
      </p:sp>
      <p:sp>
        <p:nvSpPr>
          <p:cNvPr id="7" name="">
            <a:extLst xmlns:a="http://schemas.openxmlformats.org/drawingml/2006/main">
              <a:ext uri="{FF2B5EF4-FFF2-40B4-BE49-F238E27FC236}">
                <a16:creationId xmlns:a16="http://schemas.microsoft.com/office/drawing/2014/main" id="{D922B0C3-CC8B-476B-A525-AEA9AD4FDFF2}"/>
              </a:ext>
            </a:extLst>
          </p:cNvPr>
          <p:cNvSpPr>
            <a:spLocks xmlns:a="http://schemas.openxmlformats.org/drawingml/2006/main" noGrp="1"/>
          </p:cNvSpPr>
          <p:nvPr/>
        </p:nvSpPr>
        <p:spPr>
          <a:xfrm xmlns:a="http://schemas.openxmlformats.org/drawingml/2006/main">
            <a:off x="685800" y="46386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The business owner accepts remaining issues and signs the exact build.</a:t>
            </a:r>
          </a:p>
        </p:txBody>
      </p:sp>
    </p:spTree>
    <p:extLst>
      <p:ext uri="{BB962C8B-B14F-4D97-AF65-F5344CB8AC3E}">
        <p14:creationId xmlns:p14="http://schemas.microsoft.com/office/powerpoint/2010/main" val="1156545830"/>
      </p:ext>
    </p:extLst>
  </p:cSld>
</p:sld>
</file>

<file path=ppt/slides/slide15.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0BFFD5B-7AED-4027-AD0D-386BDB140788}"/>
              </a:ext>
            </a:extLst>
          </p:cNvPr>
          <p:cNvSpPr>
            <a:spLocks xmlns:a="http://schemas.openxmlformats.org/drawingml/2006/main" noGrp="1"/>
          </p:cNvSpPr>
          <p:nvPr/>
        </p:nvSpPr>
        <p:spPr>
          <a:xfrm xmlns:a="http://schemas.openxmlformats.org/drawingml/2006/main">
            <a:off x="10477500" y="6429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33B36"/>
                </a:solidFill>
                <a:latin typeface="Helvetica Neue"/>
                <a:ea typeface="Helvetica Neue"/>
                <a:cs typeface="Helvetica Neue"/>
              </a:defRPr>
            </a:pPr>
            <a:r>
              <a:rPr sz="1350" b="0">
                <a:solidFill>
                  <a:srgbClr val="233B36"/>
                </a:solidFill>
                <a:latin typeface="Helvetica Neue"/>
                <a:ea typeface="Helvetica Neue"/>
                <a:cs typeface="Helvetica Neue"/>
              </a:rPr>
              <a:t>15 / 15</a:t>
            </a:r>
          </a:p>
        </p:txBody>
      </p:sp>
      <p:sp>
        <p:nvSpPr>
          <p:cNvPr id="2" name="">
            <a:extLst xmlns:a="http://schemas.openxmlformats.org/drawingml/2006/main">
              <a:ext uri="{FF2B5EF4-FFF2-40B4-BE49-F238E27FC236}">
                <a16:creationId xmlns:a16="http://schemas.microsoft.com/office/drawing/2014/main" id="{CAB454DF-B788-467C-842F-78CE71F2E496}"/>
              </a:ext>
            </a:extLst>
          </p:cNvPr>
          <p:cNvSpPr>
            <a:spLocks xmlns:a="http://schemas.openxmlformats.org/drawingml/2006/main" noGrp="1"/>
          </p:cNvSpPr>
          <p:nvPr/>
        </p:nvSpPr>
        <p:spPr>
          <a:xfrm xmlns:a="http://schemas.openxmlformats.org/drawingml/2006/main">
            <a:off x="685800" y="495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33B36"/>
                </a:solidFill>
                <a:latin typeface="Helvetica Neue"/>
                <a:ea typeface="Helvetica Neue"/>
                <a:cs typeface="Helvetica Neue"/>
              </a:defRPr>
            </a:pPr>
            <a:r>
              <a:rPr sz="3450" b="1">
                <a:solidFill>
                  <a:srgbClr val="233B36"/>
                </a:solidFill>
                <a:latin typeface="Helvetica Neue"/>
                <a:ea typeface="Helvetica Neue"/>
                <a:cs typeface="Helvetica Neue"/>
              </a:rPr>
              <a:t>Requirement change and decision</a:t>
            </a:r>
          </a:p>
        </p:txBody>
      </p:sp>
      <p:sp>
        <p:nvSpPr>
          <p:cNvPr id="3" name="">
            <a:extLst xmlns:a="http://schemas.openxmlformats.org/drawingml/2006/main">
              <a:ext uri="{FF2B5EF4-FFF2-40B4-BE49-F238E27FC236}">
                <a16:creationId xmlns:a16="http://schemas.microsoft.com/office/drawing/2014/main" id="{D37DD38F-B659-42F4-8043-8281CE16A1AA}"/>
              </a:ext>
            </a:extLst>
          </p:cNvPr>
          <p:cNvSpPr>
            <a:spLocks xmlns:a="http://schemas.openxmlformats.org/drawingml/2006/main" noGrp="1"/>
          </p:cNvSpPr>
          <p:nvPr/>
        </p:nvSpPr>
        <p:spPr>
          <a:xfrm xmlns:a="http://schemas.openxmlformats.org/drawingml/2006/main">
            <a:off x="685800" y="16668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Example: requests above a cost threshold need manager approval.</a:t>
            </a:r>
          </a:p>
        </p:txBody>
      </p:sp>
      <p:sp>
        <p:nvSpPr>
          <p:cNvPr id="4" name="">
            <a:extLst xmlns:a="http://schemas.openxmlformats.org/drawingml/2006/main">
              <a:ext uri="{FF2B5EF4-FFF2-40B4-BE49-F238E27FC236}">
                <a16:creationId xmlns:a16="http://schemas.microsoft.com/office/drawing/2014/main" id="{FACA8B89-5FAE-4720-BD74-ABAF54E033EB}"/>
              </a:ext>
            </a:extLst>
          </p:cNvPr>
          <p:cNvSpPr>
            <a:spLocks xmlns:a="http://schemas.openxmlformats.org/drawingml/2006/main" noGrp="1"/>
          </p:cNvSpPr>
          <p:nvPr/>
        </p:nvSpPr>
        <p:spPr>
          <a:xfrm xmlns:a="http://schemas.openxmlformats.org/drawingml/2006/main">
            <a:off x="685800" y="240982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Discovery: confirm business value, threshold currency and approval ownership.</a:t>
            </a:r>
          </a:p>
        </p:txBody>
      </p:sp>
      <p:sp>
        <p:nvSpPr>
          <p:cNvPr id="5" name="">
            <a:extLst xmlns:a="http://schemas.openxmlformats.org/drawingml/2006/main">
              <a:ext uri="{FF2B5EF4-FFF2-40B4-BE49-F238E27FC236}">
                <a16:creationId xmlns:a16="http://schemas.microsoft.com/office/drawing/2014/main" id="{4DAABA27-418A-492A-A1E3-62AA4A426CE8}"/>
              </a:ext>
            </a:extLst>
          </p:cNvPr>
          <p:cNvSpPr>
            <a:spLocks xmlns:a="http://schemas.openxmlformats.org/drawingml/2006/main" noGrp="1"/>
          </p:cNvSpPr>
          <p:nvPr/>
        </p:nvSpPr>
        <p:spPr>
          <a:xfrm xmlns:a="http://schemas.openxmlformats.org/drawingml/2006/main">
            <a:off x="685800" y="31527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Form impact: supported cost fields and visibility can use configuration.</a:t>
            </a:r>
          </a:p>
        </p:txBody>
      </p:sp>
      <p:sp>
        <p:nvSpPr>
          <p:cNvPr id="6" name="">
            <a:extLst xmlns:a="http://schemas.openxmlformats.org/drawingml/2006/main">
              <a:ext uri="{FF2B5EF4-FFF2-40B4-BE49-F238E27FC236}">
                <a16:creationId xmlns:a16="http://schemas.microsoft.com/office/drawing/2014/main" id="{7C98249A-AD28-456A-864D-A49E28EB9A35}"/>
              </a:ext>
            </a:extLst>
          </p:cNvPr>
          <p:cNvSpPr>
            <a:spLocks xmlns:a="http://schemas.openxmlformats.org/drawingml/2006/main" noGrp="1"/>
          </p:cNvSpPr>
          <p:nvPr/>
        </p:nvSpPr>
        <p:spPr>
          <a:xfrm xmlns:a="http://schemas.openxmlformats.org/drawingml/2006/main">
            <a:off x="685800" y="389572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Workflow impact: approval routing needs an API contract and backend work.</a:t>
            </a:r>
          </a:p>
        </p:txBody>
      </p:sp>
      <p:sp>
        <p:nvSpPr>
          <p:cNvPr id="7" name="">
            <a:extLst xmlns:a="http://schemas.openxmlformats.org/drawingml/2006/main">
              <a:ext uri="{FF2B5EF4-FFF2-40B4-BE49-F238E27FC236}">
                <a16:creationId xmlns:a16="http://schemas.microsoft.com/office/drawing/2014/main" id="{A2C52EF7-49A2-4CB1-A4A2-6B10447CD9B7}"/>
              </a:ext>
            </a:extLst>
          </p:cNvPr>
          <p:cNvSpPr>
            <a:spLocks xmlns:a="http://schemas.openxmlformats.org/drawingml/2006/main" noGrp="1"/>
          </p:cNvSpPr>
          <p:nvPr/>
        </p:nvSpPr>
        <p:spPr>
          <a:xfrm xmlns:a="http://schemas.openxmlformats.org/drawingml/2006/main">
            <a:off x="685800" y="46386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B36"/>
                </a:solidFill>
                <a:latin typeface="Helvetica Neue"/>
                <a:ea typeface="Helvetica Neue"/>
                <a:cs typeface="Helvetica Neue"/>
              </a:defRPr>
            </a:pPr>
            <a:r>
              <a:rPr sz="2175" b="0">
                <a:solidFill>
                  <a:srgbClr val="233B36"/>
                </a:solidFill>
                <a:latin typeface="Helvetica Neue"/>
                <a:ea typeface="Helvetica Neue"/>
                <a:cs typeface="Helvetica Neue"/>
              </a:rPr>
              <a:t>Delivery impact: estimate effort, add UAT scenarios and agree scope or date.</a:t>
            </a:r>
          </a:p>
        </p:txBody>
      </p:sp>
      <p:sp>
        <p:nvSpPr>
          <p:cNvPr id="8" name="">
            <a:extLst xmlns:a="http://schemas.openxmlformats.org/drawingml/2006/main">
              <a:ext uri="{FF2B5EF4-FFF2-40B4-BE49-F238E27FC236}">
                <a16:creationId xmlns:a16="http://schemas.microsoft.com/office/drawing/2014/main" id="{97EA9BC9-05CD-43EE-B6AB-21BD0C87AE54}"/>
              </a:ext>
            </a:extLst>
          </p:cNvPr>
          <p:cNvSpPr>
            <a:spLocks xmlns:a="http://schemas.openxmlformats.org/drawingml/2006/main" noGrp="1"/>
          </p:cNvSpPr>
          <p:nvPr/>
        </p:nvSpPr>
        <p:spPr>
          <a:xfrm xmlns:a="http://schemas.openxmlformats.org/drawingml/2006/main">
            <a:off x="685800" y="56197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F36"/>
                </a:solidFill>
                <a:latin typeface="Helvetica Neue"/>
                <a:ea typeface="Helvetica Neue"/>
                <a:cs typeface="Helvetica Neue"/>
              </a:defRPr>
            </a:pPr>
            <a:r>
              <a:rPr sz="1800" b="1">
                <a:solidFill>
                  <a:srgbClr val="183F36"/>
                </a:solidFill>
                <a:latin typeface="Helvetica Neue"/>
                <a:ea typeface="Helvetica Neue"/>
                <a:cs typeface="Helvetica Neue"/>
              </a:rPr>
              <a:t>Pilot approval needs a process owner, stable integration contracts and UAT availability</a:t>
            </a:r>
          </a:p>
        </p:txBody>
      </p:sp>
    </p:spTree>
    <p:extLst>
      <p:ext uri="{BB962C8B-B14F-4D97-AF65-F5344CB8AC3E}">
        <p14:creationId xmlns:p14="http://schemas.microsoft.com/office/powerpoint/2010/main" val="7889466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2026-10-12T07:37:28.1880000Z</dcterms:created>
  <dcterms:modified xsi:type="dcterms:W3CDTF">2026-10-12T07:37:28.1880000Z</dcterms:modified>
</coreProperties>
</file>